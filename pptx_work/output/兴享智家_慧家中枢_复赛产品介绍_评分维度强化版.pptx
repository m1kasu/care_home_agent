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06a9ccd5a47f2" /><Relationship Type="http://schemas.openxmlformats.org/officeDocument/2006/relationships/extended-properties" Target="/docProps/app.xml" Id="R30e98b81af1b403e" /><Relationship Type="http://schemas.openxmlformats.org/officeDocument/2006/relationships/officeDocument" Target="/ppt/presentation.xml" Id="Rff333f66f00e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3a7bb1dca4443"/>
  </p:sldMasterIdLst>
  <p:notesMasterIdLst>
    <p:notesMasterId xmlns:r="http://schemas.openxmlformats.org/officeDocument/2006/relationships" r:id="Rabd6e23f7e1c4299"/>
  </p:notesMasterIdLst>
  <p:sldIdLst>
    <p:sldId xmlns:r="http://schemas.openxmlformats.org/officeDocument/2006/relationships" id="256" r:id="R0d8e836d7a564194"/>
    <p:sldId xmlns:r="http://schemas.openxmlformats.org/officeDocument/2006/relationships" id="257" r:id="R52dc73fae68942ff"/>
    <p:sldId xmlns:r="http://schemas.openxmlformats.org/officeDocument/2006/relationships" id="258" r:id="R8497116785b8481f"/>
    <p:sldId xmlns:r="http://schemas.openxmlformats.org/officeDocument/2006/relationships" id="259" r:id="R569dbeed75f14871"/>
    <p:sldId xmlns:r="http://schemas.openxmlformats.org/officeDocument/2006/relationships" id="260" r:id="R975073f4d2be4e25"/>
    <p:sldId xmlns:r="http://schemas.openxmlformats.org/officeDocument/2006/relationships" id="261" r:id="R45d49e952a41425f"/>
    <p:sldId xmlns:r="http://schemas.openxmlformats.org/officeDocument/2006/relationships" id="262" r:id="R448cf67294df404b"/>
    <p:sldId xmlns:r="http://schemas.openxmlformats.org/officeDocument/2006/relationships" id="263" r:id="Re23879b0ef7b4f5e"/>
    <p:sldId xmlns:r="http://schemas.openxmlformats.org/officeDocument/2006/relationships" id="264" r:id="R3d968c0ca52042e6"/>
    <p:sldId xmlns:r="http://schemas.openxmlformats.org/officeDocument/2006/relationships" id="265" r:id="R2fa909d8bcf54b6d"/>
    <p:sldId xmlns:r="http://schemas.openxmlformats.org/officeDocument/2006/relationships" id="266" r:id="Rec33ef3cca9f4ed9"/>
    <p:sldId xmlns:r="http://schemas.openxmlformats.org/officeDocument/2006/relationships" id="267" r:id="R9e9daf61ab8f4910"/>
    <p:sldId xmlns:r="http://schemas.openxmlformats.org/officeDocument/2006/relationships" id="268" r:id="R326ad64753424010"/>
    <p:sldId xmlns:r="http://schemas.openxmlformats.org/officeDocument/2006/relationships" id="269" r:id="R212dff5079c54b15"/>
    <p:sldId xmlns:r="http://schemas.openxmlformats.org/officeDocument/2006/relationships" id="270" r:id="R02a9ea68ab8543d4"/>
    <p:sldId xmlns:r="http://schemas.openxmlformats.org/officeDocument/2006/relationships" id="271" r:id="Rbdc2e01ab18643a9"/>
    <p:sldId xmlns:r="http://schemas.openxmlformats.org/officeDocument/2006/relationships" id="272" r:id="Rf60eda0481d7472a"/>
    <p:sldId xmlns:r="http://schemas.openxmlformats.org/officeDocument/2006/relationships" id="273" r:id="Rdc67d45f682a4373"/>
    <p:sldId xmlns:r="http://schemas.openxmlformats.org/officeDocument/2006/relationships" id="274" r:id="Rf5fa38a2d0534dfe"/>
    <p:sldId xmlns:r="http://schemas.openxmlformats.org/officeDocument/2006/relationships" id="275" r:id="R72ed09d2fb864aa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3a7bb1dca4443" /><Relationship Type="http://schemas.openxmlformats.org/officeDocument/2006/relationships/theme" Target="/ppt/theme/theme1.xml" Id="R1bdc364cfc0b410f" /><Relationship Type="http://schemas.openxmlformats.org/officeDocument/2006/relationships/notesMaster" Target="/ppt/notesMasters/notesMaster1.xml" Id="Rabd6e23f7e1c4299" /><Relationship Type="http://schemas.openxmlformats.org/officeDocument/2006/relationships/presProps" Target="/ppt/presProps.xml" Id="R476c3de90c764d83" /><Relationship Type="http://schemas.openxmlformats.org/officeDocument/2006/relationships/viewProps" Target="/ppt/viewProps.xml" Id="R064f02861ae04338" /><Relationship Type="http://schemas.openxmlformats.org/officeDocument/2006/relationships/tableStyles" Target="/ppt/tableStyles.xml" Id="R913b5f0d2a2946d6" /><Relationship Type="http://schemas.openxmlformats.org/officeDocument/2006/relationships/slide" Target="/ppt/slides/slide1.xml" Id="R0d8e836d7a564194" /><Relationship Type="http://schemas.openxmlformats.org/officeDocument/2006/relationships/slide" Target="/ppt/slides/slide2.xml" Id="R52dc73fae68942ff" /><Relationship Type="http://schemas.openxmlformats.org/officeDocument/2006/relationships/slide" Target="/ppt/slides/slide3.xml" Id="R8497116785b8481f" /><Relationship Type="http://schemas.openxmlformats.org/officeDocument/2006/relationships/slide" Target="/ppt/slides/slide4.xml" Id="R569dbeed75f14871" /><Relationship Type="http://schemas.openxmlformats.org/officeDocument/2006/relationships/slide" Target="/ppt/slides/slide5.xml" Id="R975073f4d2be4e25" /><Relationship Type="http://schemas.openxmlformats.org/officeDocument/2006/relationships/slide" Target="/ppt/slides/slide6.xml" Id="R45d49e952a41425f" /><Relationship Type="http://schemas.openxmlformats.org/officeDocument/2006/relationships/slide" Target="/ppt/slides/slide7.xml" Id="R448cf67294df404b" /><Relationship Type="http://schemas.openxmlformats.org/officeDocument/2006/relationships/slide" Target="/ppt/slides/slide8.xml" Id="Re23879b0ef7b4f5e" /><Relationship Type="http://schemas.openxmlformats.org/officeDocument/2006/relationships/slide" Target="/ppt/slides/slide9.xml" Id="R3d968c0ca52042e6" /><Relationship Type="http://schemas.openxmlformats.org/officeDocument/2006/relationships/slide" Target="/ppt/slides/slide10.xml" Id="R2fa909d8bcf54b6d" /><Relationship Type="http://schemas.openxmlformats.org/officeDocument/2006/relationships/slide" Target="/ppt/slides/slide11.xml" Id="Rec33ef3cca9f4ed9" /><Relationship Type="http://schemas.openxmlformats.org/officeDocument/2006/relationships/slide" Target="/ppt/slides/slide12.xml" Id="R9e9daf61ab8f4910" /><Relationship Type="http://schemas.openxmlformats.org/officeDocument/2006/relationships/slide" Target="/ppt/slides/slide13.xml" Id="R326ad64753424010" /><Relationship Type="http://schemas.openxmlformats.org/officeDocument/2006/relationships/slide" Target="/ppt/slides/slide14.xml" Id="R212dff5079c54b15" /><Relationship Type="http://schemas.openxmlformats.org/officeDocument/2006/relationships/slide" Target="/ppt/slides/slide15.xml" Id="R02a9ea68ab8543d4" /><Relationship Type="http://schemas.openxmlformats.org/officeDocument/2006/relationships/slide" Target="/ppt/slides/slide16.xml" Id="Rbdc2e01ab18643a9" /><Relationship Type="http://schemas.openxmlformats.org/officeDocument/2006/relationships/slide" Target="/ppt/slides/slide17.xml" Id="Rf60eda0481d7472a" /><Relationship Type="http://schemas.openxmlformats.org/officeDocument/2006/relationships/slide" Target="/ppt/slides/slide18.xml" Id="Rdc67d45f682a4373" /><Relationship Type="http://schemas.openxmlformats.org/officeDocument/2006/relationships/slide" Target="/ppt/slides/slide19.xml" Id="Rf5fa38a2d0534dfe" /><Relationship Type="http://schemas.openxmlformats.org/officeDocument/2006/relationships/slide" Target="/ppt/slides/slide20.xml" Id="R72ed09d2fb86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ec76acca869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dc9a9ece74c49" /><Relationship Type="http://schemas.openxmlformats.org/officeDocument/2006/relationships/notesMaster" Target="/ppt/notesMasters/notesMaster1.xml" Id="Rd4151c0a2b82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8a0fde5f04202" /><Relationship Type="http://schemas.openxmlformats.org/officeDocument/2006/relationships/notesMaster" Target="/ppt/notesMasters/notesMaster1.xml" Id="R157731218c65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ac6bad2d942ce" /><Relationship Type="http://schemas.openxmlformats.org/officeDocument/2006/relationships/notesMaster" Target="/ppt/notesMasters/notesMaster1.xml" Id="R4e63c6676ded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efcbf457f47b8" /><Relationship Type="http://schemas.openxmlformats.org/officeDocument/2006/relationships/notesMaster" Target="/ppt/notesMasters/notesMaster1.xml" Id="Rdcc179693d9a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7d2ed91e04e2c" /><Relationship Type="http://schemas.openxmlformats.org/officeDocument/2006/relationships/notesMaster" Target="/ppt/notesMasters/notesMaster1.xml" Id="R78e2fe5bb9ab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06642de1d4846" /><Relationship Type="http://schemas.openxmlformats.org/officeDocument/2006/relationships/notesMaster" Target="/ppt/notesMasters/notesMaster1.xml" Id="R1c42f43306014a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ed1cc602748dd" /><Relationship Type="http://schemas.openxmlformats.org/officeDocument/2006/relationships/notesMaster" Target="/ppt/notesMasters/notesMaster1.xml" Id="R9bc59913a8b34a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092098ab94201" /><Relationship Type="http://schemas.openxmlformats.org/officeDocument/2006/relationships/notesMaster" Target="/ppt/notesMasters/notesMaster1.xml" Id="R7ea8d2bc680847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51f37b9f9745e5" /><Relationship Type="http://schemas.openxmlformats.org/officeDocument/2006/relationships/notesMaster" Target="/ppt/notesMasters/notesMaster1.xml" Id="R58d938df2ff248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a0be35bfa4bff" /><Relationship Type="http://schemas.openxmlformats.org/officeDocument/2006/relationships/notesMaster" Target="/ppt/notesMasters/notesMaster1.xml" Id="R96f1f85060d745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ba9a343814ed7" /><Relationship Type="http://schemas.openxmlformats.org/officeDocument/2006/relationships/notesMaster" Target="/ppt/notesMasters/notesMaster1.xml" Id="R9bf9d5d641334b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18f08b7f1e4372" /><Relationship Type="http://schemas.openxmlformats.org/officeDocument/2006/relationships/notesMaster" Target="/ppt/notesMasters/notesMaster1.xml" Id="R319ca4c476e640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650fcee44d4c9c" /><Relationship Type="http://schemas.openxmlformats.org/officeDocument/2006/relationships/notesMaster" Target="/ppt/notesMasters/notesMaster1.xml" Id="Rb53aeea5dd1b47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3f9e69c2e443c3" /><Relationship Type="http://schemas.openxmlformats.org/officeDocument/2006/relationships/notesMaster" Target="/ppt/notesMasters/notesMaster1.xml" Id="R8e8d0a96476248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ede1c121f74b4a" /><Relationship Type="http://schemas.openxmlformats.org/officeDocument/2006/relationships/notesMaster" Target="/ppt/notesMasters/notesMaster1.xml" Id="R29637d413a924a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2e9d5ec0944047" /><Relationship Type="http://schemas.openxmlformats.org/officeDocument/2006/relationships/notesMaster" Target="/ppt/notesMasters/notesMaster1.xml" Id="Rbe22519aa6884b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f73d6d4361472f" /><Relationship Type="http://schemas.openxmlformats.org/officeDocument/2006/relationships/notesMaster" Target="/ppt/notesMasters/notesMaster1.xml" Id="R11a92eb32e5341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3dba0661ec4af3" /><Relationship Type="http://schemas.openxmlformats.org/officeDocument/2006/relationships/notesMaster" Target="/ppt/notesMasters/notesMaster1.xml" Id="R9ade01ccfd4540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41960c07964ce7" /><Relationship Type="http://schemas.openxmlformats.org/officeDocument/2006/relationships/notesMaster" Target="/ppt/notesMasters/notesMaster1.xml" Id="R44a1fc4d30d44c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9966b87fb84f5c" /><Relationship Type="http://schemas.openxmlformats.org/officeDocument/2006/relationships/notesMaster" Target="/ppt/notesMasters/notesMaster1.xml" Id="Rfd84c88d9d24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3d2c554cc40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39b26e173e4a64" /><Relationship Type="http://schemas.openxmlformats.org/officeDocument/2006/relationships/slideLayout" Target="/ppt/slideLayouts/slideLayout2.xml" Id="R42ea91f9035c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a91f9035c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a68055fb04eff" /><Relationship Type="http://schemas.openxmlformats.org/officeDocument/2006/relationships/notesSlide" Target="/ppt/notesSlides/notesSlide1.xml" Id="R249d7a7a0f9e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55302d33e45db" /><Relationship Type="http://schemas.openxmlformats.org/officeDocument/2006/relationships/notesSlide" Target="/ppt/notesSlides/notesSlide2.xml" Id="R055a778968da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3c2791db3c4fc4" /><Relationship Type="http://schemas.openxmlformats.org/officeDocument/2006/relationships/notesSlide" Target="/ppt/notesSlides/notesSlide3.xml" Id="R79e0bb04827e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1f91efff04622" /><Relationship Type="http://schemas.openxmlformats.org/officeDocument/2006/relationships/notesSlide" Target="/ppt/notesSlides/notesSlide4.xml" Id="Rb971e3319755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eba8169f94b43" /><Relationship Type="http://schemas.openxmlformats.org/officeDocument/2006/relationships/notesSlide" Target="/ppt/notesSlides/notesSlide5.xml" Id="R6f1b4c3e6680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c0668cd6043bb" /><Relationship Type="http://schemas.openxmlformats.org/officeDocument/2006/relationships/notesSlide" Target="/ppt/notesSlides/notesSlide6.xml" Id="Re1b8dafc00a949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ea90c599e4859" /><Relationship Type="http://schemas.openxmlformats.org/officeDocument/2006/relationships/notesSlide" Target="/ppt/notesSlides/notesSlide7.xml" Id="R744ab347a766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f61b9f6ce45bf" /><Relationship Type="http://schemas.openxmlformats.org/officeDocument/2006/relationships/notesSlide" Target="/ppt/notesSlides/notesSlide8.xml" Id="Rf5174f6ab874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b547635834e57" /><Relationship Type="http://schemas.openxmlformats.org/officeDocument/2006/relationships/notesSlide" Target="/ppt/notesSlides/notesSlide9.xml" Id="R56bc4d8b26ae40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acddeeb1c418e" /><Relationship Type="http://schemas.openxmlformats.org/officeDocument/2006/relationships/notesSlide" Target="/ppt/notesSlides/notesSlide10.xml" Id="Rbb06ffe7f4df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57ff1e9d84d49" /><Relationship Type="http://schemas.openxmlformats.org/officeDocument/2006/relationships/notesSlide" Target="/ppt/notesSlides/notesSlide11.xml" Id="Rb5d9af8430a843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bfbc055ff4c65" /><Relationship Type="http://schemas.openxmlformats.org/officeDocument/2006/relationships/notesSlide" Target="/ppt/notesSlides/notesSlide12.xml" Id="R8c0a0161486344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234956efd4a07" /><Relationship Type="http://schemas.openxmlformats.org/officeDocument/2006/relationships/notesSlide" Target="/ppt/notesSlides/notesSlide13.xml" Id="R64a4a4cf82a348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6014752474d34" /><Relationship Type="http://schemas.openxmlformats.org/officeDocument/2006/relationships/image" Target="/ppt/media/image.png" Id="R041055ebd0bb4767" /><Relationship Type="http://schemas.openxmlformats.org/officeDocument/2006/relationships/notesSlide" Target="/ppt/notesSlides/notesSlide14.xml" Id="R2c7101bf5d9441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e22eb98c945a0" /><Relationship Type="http://schemas.openxmlformats.org/officeDocument/2006/relationships/notesSlide" Target="/ppt/notesSlides/notesSlide15.xml" Id="R3e3d2f1201dc42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b2739f23a44a0" /><Relationship Type="http://schemas.openxmlformats.org/officeDocument/2006/relationships/notesSlide" Target="/ppt/notesSlides/notesSlide16.xml" Id="R04daef6d18104d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0968512f9c43dd" /><Relationship Type="http://schemas.openxmlformats.org/officeDocument/2006/relationships/notesSlide" Target="/ppt/notesSlides/notesSlide17.xml" Id="R0b7a80d504a640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ff32508174f35" /><Relationship Type="http://schemas.openxmlformats.org/officeDocument/2006/relationships/notesSlide" Target="/ppt/notesSlides/notesSlide18.xml" Id="Rc1c9ef16c9a949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7864447d949c1" /><Relationship Type="http://schemas.openxmlformats.org/officeDocument/2006/relationships/notesSlide" Target="/ppt/notesSlides/notesSlide19.xml" Id="Re3ef411523384f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4976e683f4085" /><Relationship Type="http://schemas.openxmlformats.org/officeDocument/2006/relationships/notesSlide" Target="/ppt/notesSlides/notesSlide20.xml" Id="Rf6f974647ebd4a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BE5C461B-7F5D-4A0B-B000-305336A9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F45CE-DC22-4E3F-BB16-84427CA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复赛作品展示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219CA-A6B2-4CDE-A835-3AEAF07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85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A86"/>
                </a:solidFill>
              </a:defRPr>
            </a:pPr>
            <a:r>
              <a:t>西安电子科技大学广州研究院</a:t>
            </a:r>
          </a:p>
        </p:txBody>
      </p:sp>
      <p:sp>
        <p:nvSpPr>
          <p:cNvPr id="4" name="cover-main">
            <a:extLst xmlns:a="http://schemas.openxmlformats.org/drawingml/2006/main">
              <a:ext uri="{FF2B5EF4-FFF2-40B4-BE49-F238E27FC236}">
                <a16:creationId xmlns:a16="http://schemas.microsoft.com/office/drawing/2014/main" id="{192BD4D6-B423-446E-BC89-553EA88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6576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7212D"/>
                </a:solidFill>
              </a:defRPr>
            </a:pPr>
            <a:r>
              <a:t>兴享智家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A5B81-9053-41DF-9C22-874D2BE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E8F86"/>
                </a:solidFill>
              </a:defRPr>
            </a:pPr>
            <a:r>
              <a:t>慧家中枢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4287-4B53-4E98-8F3E-9ECCE11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EFBC-00EA-411D-BC20-13CF23E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857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面向三代同堂家庭的本地家庭中枢：用自然语言统一调度老人关怀、睡前联动、网络 QoS、主动巡检与安全确认。</a:t>
            </a:r>
          </a:p>
        </p:txBody>
      </p:sp>
      <p:sp>
        <p:nvSpPr>
          <p:cNvPr id="8" name="chip-端侧 Agent">
            <a:extLst xmlns:a="http://schemas.openxmlformats.org/drawingml/2006/main">
              <a:ext uri="{FF2B5EF4-FFF2-40B4-BE49-F238E27FC236}">
                <a16:creationId xmlns:a16="http://schemas.microsoft.com/office/drawing/2014/main" id="{0A9973FD-6535-4D03-BC66-F869E1E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56370"/>
            <a:ext cx="1144048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296D0-1AA7-46BF-A0DD-C93226AA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24950"/>
            <a:ext cx="80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端侧 Agent</a:t>
            </a:r>
          </a:p>
        </p:txBody>
      </p:sp>
      <p:sp>
        <p:nvSpPr>
          <p:cNvPr id="10" name="chip-本地 Qwen">
            <a:extLst xmlns:a="http://schemas.openxmlformats.org/drawingml/2006/main">
              <a:ext uri="{FF2B5EF4-FFF2-40B4-BE49-F238E27FC236}">
                <a16:creationId xmlns:a16="http://schemas.microsoft.com/office/drawing/2014/main" id="{F0883B07-A652-45DE-8710-AB70CBB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648" y="9056370"/>
            <a:ext cx="114690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88EB-578C-486D-88F8-BA95164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91249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本地 Qwen</a:t>
            </a:r>
          </a:p>
        </p:txBody>
      </p:sp>
      <p:sp>
        <p:nvSpPr>
          <p:cNvPr id="12" name="chip-工具闭环">
            <a:extLst xmlns:a="http://schemas.openxmlformats.org/drawingml/2006/main">
              <a:ext uri="{FF2B5EF4-FFF2-40B4-BE49-F238E27FC236}">
                <a16:creationId xmlns:a16="http://schemas.microsoft.com/office/drawing/2014/main" id="{75ECA716-CA1C-4E63-B47C-D17582C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53" y="905637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EB1A8-5A9B-4ACD-A5EF-35B1527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124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工具闭环</a:t>
            </a:r>
          </a:p>
        </p:txBody>
      </p:sp>
      <p:sp>
        <p:nvSpPr>
          <p:cNvPr id="14" name="chip-SQLite 记忆">
            <a:extLst xmlns:a="http://schemas.openxmlformats.org/drawingml/2006/main">
              <a:ext uri="{FF2B5EF4-FFF2-40B4-BE49-F238E27FC236}">
                <a16:creationId xmlns:a16="http://schemas.microsoft.com/office/drawing/2014/main" id="{599F8696-E813-4BEA-8A44-64D661D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53" y="9056370"/>
            <a:ext cx="1181481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19430-1831-48B6-B0BD-2042065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91249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SQLite 记忆</a:t>
            </a:r>
          </a:p>
        </p:txBody>
      </p:sp>
      <p:sp>
        <p:nvSpPr>
          <p:cNvPr id="16" name="cover-ui-device">
            <a:extLst xmlns:a="http://schemas.openxmlformats.org/drawingml/2006/main">
              <a:ext uri="{FF2B5EF4-FFF2-40B4-BE49-F238E27FC236}">
                <a16:creationId xmlns:a16="http://schemas.microsoft.com/office/drawing/2014/main" id="{E868D9DB-5BEB-4B0B-81A4-9D2006D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095375"/>
            <a:ext cx="6477000" cy="809625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4F7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B72D7-C681-44FD-B978-296F45F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25730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D"/>
                </a:solidFill>
              </a:defRPr>
            </a:pPr>
            <a:r>
              <a:t>🏠 兴享智家 · 慧家中枢</a:t>
            </a:r>
          </a:p>
        </p:txBody>
      </p:sp>
      <p:sp>
        <p:nvSpPr>
          <p:cNvPr id="18" name="chip-自动闭环">
            <a:extLst xmlns:a="http://schemas.openxmlformats.org/drawingml/2006/main">
              <a:ext uri="{FF2B5EF4-FFF2-40B4-BE49-F238E27FC236}">
                <a16:creationId xmlns:a16="http://schemas.microsoft.com/office/drawing/2014/main" id="{8B5B650B-F75D-4717-B172-723C84A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409700"/>
            <a:ext cx="1028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9911E-19FF-4CE3-A41F-F8A25D5B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4859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自动闭环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9818B-01DE-4CFE-98E6-AFB26D7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57400"/>
            <a:ext cx="613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端侧 Agent · 规则路由优先 · 本地小模型兜底 · SQLite 知识库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43940-347A-4EB5-8E98-73DDF0E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394585"/>
            <a:ext cx="6134100" cy="504063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B70E4-63A0-4E3F-83E0-316D234C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59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6CE0"/>
                </a:solidFill>
              </a:defRPr>
            </a:pPr>
            <a:r>
              <a:t>对话窗口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DE53F-9EB5-4575-A773-D31EA04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924175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7755E-09A1-4F0D-B47C-E115415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0480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看看老人房现在怎么样？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386D2-C979-4C25-BB88-26812E46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14725"/>
            <a:ext cx="3886581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D099A-2A5C-457F-BBF1-12E656D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638550"/>
            <a:ext cx="3543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老人房当前温度 17.5℃，湿度 60%，已 130 分钟无人活动。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0D6DF-9C81-4B0F-B0EF-1ABE29F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333875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0A7DD-126E-421A-8358-0320DFD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457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先保证爷爷那边。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00832-DFDE-4046-B75A-8462347D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924425"/>
            <a:ext cx="405107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AA41C5-A21E-4EC4-A280-CF777CF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0482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已开启老人房视频优先策略，持续 60 分钟。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4D8D09-F6BC-40B6-A10C-3A6BCF0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587615"/>
            <a:ext cx="29908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41433-C074-48CD-8924-26C705E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7152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模型与意图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973AD9-8573-4A4F-9BD5-F0FF9FE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03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39D70-7609-43A9-A841-14A8A76F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001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F0E31E-B083-47DB-9F48-8D12EDC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00100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规则 / 本地 Qwen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F2789-0C7E-4087-93E4-0B297490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305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A21D5-86E3-4CD8-8269-05DD4A1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2677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5E8CE6-548D-48BD-9730-523B8F0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26770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sensor_query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9A9BC-A032-46DA-A600-D5E47C9F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55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69702-ABE4-42B6-8C5A-9D494A9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153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耗时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16A78C-F185-4AC8-BCEC-E666901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5153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2 ms / 2070 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E99C55-EB87-43EA-B455-F207546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7587615"/>
            <a:ext cx="29908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A70FC4-3BF6-4981-8B50-1583EB6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7152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工具轨迹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2527B1-520B-46CC-9F4C-27BFD1D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13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04CE0-0DE4-4FD7-B80C-7BEBC0E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0962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8EF180-F324-409D-A78F-AE3956C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001000"/>
            <a:ext cx="1200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home_profile.query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51F167-49E4-426E-B75A-A111F396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47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20E5E1-7D6E-4423-B6CB-A16606F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4391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ABB481-F22B-4202-A2CF-78C8CA0E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4391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sensor.query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D82C36-2F3F-42FF-8D9F-7F24EF5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74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F68917-3B10-4658-87EB-AFF106E5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705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69726A-E1E3-4851-BA88-65FFE4D6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7058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device.query</a:t>
            </a:r>
          </a:p>
        </p:txBody>
      </p:sp>
    </p:spTree>
    <p:extLst>
      <p:ext uri="{BB962C8B-B14F-4D97-AF65-F5344CB8AC3E}">
        <p14:creationId xmlns:p14="http://schemas.microsoft.com/office/powerpoint/2010/main" val="18127082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in-bg">
            <a:extLst xmlns:a="http://schemas.openxmlformats.org/drawingml/2006/main">
              <a:ext uri="{FF2B5EF4-FFF2-40B4-BE49-F238E27FC236}">
                <a16:creationId xmlns:a16="http://schemas.microsoft.com/office/drawing/2014/main" id="{7ACB41EA-9B13-41D2-BC62-B60290FF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DDF599-2B94-42EA-82C5-FE7C463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家庭智能化的核心挑战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01DD57-5065-4E77-AA9F-B5589B13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153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家庭智能服务的关键难点在于多设备协同、网络状态理解、关怀任务上下文和本地隐私保护。</a:t>
            </a:r>
          </a:p>
        </p:txBody>
      </p:sp>
      <p:sp>
        <p:nvSpPr>
          <p:cNvPr id="4" name="lane-mark">
            <a:extLst xmlns:a="http://schemas.openxmlformats.org/drawingml/2006/main">
              <a:ext uri="{FF2B5EF4-FFF2-40B4-BE49-F238E27FC236}">
                <a16:creationId xmlns:a16="http://schemas.microsoft.com/office/drawing/2014/main" id="{F8087FAC-7BAC-4B0F-A561-3A6E5F8B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C5BE-2ACB-4633-ACF8-CD0E613C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设备割裂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6322F-7E3E-433E-9C07-E2EC3235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灯、空调、门锁、摄像头、路由器分散在多个入口。</a:t>
            </a:r>
          </a:p>
        </p:txBody>
      </p:sp>
      <p:sp>
        <p:nvSpPr>
          <p:cNvPr id="7" name="lane-mark">
            <a:extLst xmlns:a="http://schemas.openxmlformats.org/drawingml/2006/main">
              <a:ext uri="{FF2B5EF4-FFF2-40B4-BE49-F238E27FC236}">
                <a16:creationId xmlns:a16="http://schemas.microsoft.com/office/drawing/2014/main" id="{CA3A92CE-13D3-47EA-A8B2-4A6463D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E2279-5D19-4526-A328-5559E74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网络难定位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938B2-2D5D-44AA-840A-5092286E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Wi‑Fi 卡顿、Mesh 信号、带宽占用对普通家庭不透明。</a:t>
            </a:r>
          </a:p>
        </p:txBody>
      </p:sp>
      <p:sp>
        <p:nvSpPr>
          <p:cNvPr id="10" name="lane-mark">
            <a:extLst xmlns:a="http://schemas.openxmlformats.org/drawingml/2006/main">
              <a:ext uri="{FF2B5EF4-FFF2-40B4-BE49-F238E27FC236}">
                <a16:creationId xmlns:a16="http://schemas.microsoft.com/office/drawing/2014/main" id="{DEC712F6-FCE8-47A3-A799-38083C5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DEE5-5EDB-409B-917C-0E87073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关怀弱上下文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3B7E-7E26-4EC4-973E-1EA67C6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提醒工具知道时间，却不知道家庭状态和上一轮任务。</a:t>
            </a:r>
          </a:p>
        </p:txBody>
      </p:sp>
      <p:sp>
        <p:nvSpPr>
          <p:cNvPr id="13" name="lane-mark">
            <a:extLst xmlns:a="http://schemas.openxmlformats.org/drawingml/2006/main">
              <a:ext uri="{FF2B5EF4-FFF2-40B4-BE49-F238E27FC236}">
                <a16:creationId xmlns:a16="http://schemas.microsoft.com/office/drawing/2014/main" id="{B07214E5-0BFD-489F-8734-2E05B6EF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8D5D7-AF65-4A40-802E-5E0480E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隐私有顾虑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63D39-A5F3-45BA-8FF2-4DF9E09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作息、健康提醒、摄像头与网络日志不适合默认上云。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E3C1F-2C18-4324-8C56-BE14A633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230F1-56FB-4E1D-8005-10F9AA6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02/20</a:t>
            </a:r>
          </a:p>
        </p:txBody>
      </p:sp>
    </p:spTree>
    <p:extLst>
      <p:ext uri="{BB962C8B-B14F-4D97-AF65-F5344CB8AC3E}">
        <p14:creationId xmlns:p14="http://schemas.microsoft.com/office/powerpoint/2010/main" val="817455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-bg">
            <a:extLst xmlns:a="http://schemas.openxmlformats.org/drawingml/2006/main">
              <a:ext uri="{FF2B5EF4-FFF2-40B4-BE49-F238E27FC236}">
                <a16:creationId xmlns:a16="http://schemas.microsoft.com/office/drawing/2014/main" id="{41B62478-8F89-4075-9A4A-7473AD6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439BC-9159-4F6A-B03E-DEDF3F58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66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产品定位：面向三代同堂家庭的本地任务中枢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59B38C-D78E-4767-9AE8-75E4618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0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系统运行在家庭网关或边缘盒子上，把家庭成员、房间、设备、网络和提醒组织为可执行任务。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1A835-657A-43C7-A31A-6EDDFEA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02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核心价值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148BF-9AB1-4448-94F0-0FBB23F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7200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D"/>
                </a:solidFill>
              </a:defRPr>
            </a:pPr>
            <a:r>
              <a:t>用户说一句家庭语言，系统完成理解、规划、工具调用、状态更新和结果解释。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65676-B340-46E9-AA34-E46F9E9F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617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B7A86"/>
                </a:solidFill>
              </a:defRPr>
            </a:pPr>
            <a:r>
              <a:t>核心能力围绕四类家庭任务展开：老人关怀、睡前联动、网络 QoS、主动巡检。</a:t>
            </a:r>
          </a:p>
        </p:txBody>
      </p:sp>
      <p:sp>
        <p:nvSpPr>
          <p:cNvPr id="7" name="target-user">
            <a:extLst xmlns:a="http://schemas.openxmlformats.org/drawingml/2006/main">
              <a:ext uri="{FF2B5EF4-FFF2-40B4-BE49-F238E27FC236}">
                <a16:creationId xmlns:a16="http://schemas.microsoft.com/office/drawing/2014/main" id="{D1866F40-3A96-4053-97CA-20DE57A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AD9B3-652B-4713-AE58-AC5D535A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291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8F86"/>
                </a:solidFill>
              </a:defRPr>
            </a:pPr>
            <a:r>
              <a:t>家庭成员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7097D-6442-4DD1-AF71-8681C27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自然语言控制、查询状态、处理日常提醒。</a:t>
            </a:r>
          </a:p>
        </p:txBody>
      </p:sp>
      <p:sp>
        <p:nvSpPr>
          <p:cNvPr id="10" name="target-elder">
            <a:extLst xmlns:a="http://schemas.openxmlformats.org/drawingml/2006/main">
              <a:ext uri="{FF2B5EF4-FFF2-40B4-BE49-F238E27FC236}">
                <a16:creationId xmlns:a16="http://schemas.microsoft.com/office/drawing/2014/main" id="{6B1B61B9-717C-468B-A36C-C81B9DEA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000500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023C-68EA-484F-80CF-5CE84A42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2291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A038"/>
                </a:solidFill>
              </a:defRPr>
            </a:pPr>
            <a:r>
              <a:t>老年人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BC9E5-BDA5-41A9-927A-797E105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6672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吃药、饮水、休息、异常未响应等关怀。</a:t>
            </a:r>
          </a:p>
        </p:txBody>
      </p:sp>
      <p:sp>
        <p:nvSpPr>
          <p:cNvPr id="13" name="target-admin">
            <a:extLst xmlns:a="http://schemas.openxmlformats.org/drawingml/2006/main">
              <a:ext uri="{FF2B5EF4-FFF2-40B4-BE49-F238E27FC236}">
                <a16:creationId xmlns:a16="http://schemas.microsoft.com/office/drawing/2014/main" id="{126EBCB6-2180-4D7F-B259-5B22041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91175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3A641-0E86-47D0-BEB8-5B14EF3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293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678D5"/>
                </a:solidFill>
              </a:defRPr>
            </a:pPr>
            <a:r>
              <a:t>家庭管理员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36BD5-454B-4B83-96E2-150CF59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674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设备、网络、能耗、提醒和安全状态统一可视。</a:t>
            </a:r>
          </a:p>
        </p:txBody>
      </p:sp>
      <p:sp>
        <p:nvSpPr>
          <p:cNvPr id="16" name="target-vendor">
            <a:extLst xmlns:a="http://schemas.openxmlformats.org/drawingml/2006/main">
              <a:ext uri="{FF2B5EF4-FFF2-40B4-BE49-F238E27FC236}">
                <a16:creationId xmlns:a16="http://schemas.microsoft.com/office/drawing/2014/main" id="{35C48633-7F20-4F57-BCDC-4BE6612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91175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44789-A869-41A5-9137-0D53681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8293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A56F"/>
                </a:solidFill>
              </a:defRPr>
            </a:pPr>
            <a:r>
              <a:t>终端厂商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70B81-01C7-4CFA-892C-974D1D4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2674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可集成到家庭网关、智能屏、路由器、机器人。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78F66-93BB-4960-B8BB-08798C1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011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8F693-354F-4D14-83A8-F1F950C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93154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03/20</a:t>
            </a:r>
          </a:p>
        </p:txBody>
      </p:sp>
    </p:spTree>
    <p:extLst>
      <p:ext uri="{BB962C8B-B14F-4D97-AF65-F5344CB8AC3E}">
        <p14:creationId xmlns:p14="http://schemas.microsoft.com/office/powerpoint/2010/main" val="16297922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st-alignment-bg">
            <a:extLst xmlns:a="http://schemas.openxmlformats.org/drawingml/2006/main">
              <a:ext uri="{FF2B5EF4-FFF2-40B4-BE49-F238E27FC236}">
                <a16:creationId xmlns:a16="http://schemas.microsoft.com/office/drawing/2014/main" id="{B6A43F44-B24E-40CE-92A4-27866BDA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8478A-3E6B-473A-8B60-A785073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5867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赛题能力与创新方向对齐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E29E7F-8363-45C1-A243-39CBF95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990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作品选择家庭场景，在端侧算力约束下实现可运行、可解释、可演示的场景化智能体系统。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CC145-AEBA-410C-9693-414B274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822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四项核心能力</a:t>
            </a:r>
          </a:p>
        </p:txBody>
      </p:sp>
      <p:sp>
        <p:nvSpPr>
          <p:cNvPr id="5" name="align-场景理解与任务规划">
            <a:extLst xmlns:a="http://schemas.openxmlformats.org/drawingml/2006/main">
              <a:ext uri="{FF2B5EF4-FFF2-40B4-BE49-F238E27FC236}">
                <a16:creationId xmlns:a16="http://schemas.microsoft.com/office/drawing/2014/main" id="{28C1D007-FC77-4CD8-8BA7-B4B52D0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7930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B0928-FDFD-4D1C-AEF1-BA6A16F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8F86"/>
                </a:solidFill>
              </a:defRPr>
            </a:pPr>
            <a:r>
              <a:t>场景理解与任务规划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13B7C-6BA8-46F8-A51B-1787ADB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理解家庭自然语言指令，将其转为可执行任务流程。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5320-1D69-45AB-97EC-3502FF1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  <a:ln xmlns:a="http://schemas.openxmlformats.org/drawingml/2006/main" w="0">
            <a:solidFill>
              <a:srgbClr val="0E8F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CB40E-E789-4D39-9AB8-0C168C8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Router + 本地 Qwen + TaskPlanner DAG</a:t>
            </a:r>
          </a:p>
        </p:txBody>
      </p:sp>
      <p:sp>
        <p:nvSpPr>
          <p:cNvPr id="10" name="align-工具调用与资源整合">
            <a:extLst xmlns:a="http://schemas.openxmlformats.org/drawingml/2006/main">
              <a:ext uri="{FF2B5EF4-FFF2-40B4-BE49-F238E27FC236}">
                <a16:creationId xmlns:a16="http://schemas.microsoft.com/office/drawing/2014/main" id="{60EF9A35-27FB-461E-B68A-6FC3C336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487930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86716-CC13-42A3-908C-BFFCFD3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678D5"/>
                </a:solidFill>
              </a:defRPr>
            </a:pPr>
            <a:r>
              <a:t>工具调用与资源整合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F4832-4198-4708-BDA5-CE3E4FE8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统一调用设备、网络、提醒、知识、画像和安全工具。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F2477-FA02-442C-B505-7C49630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  <a:ln xmlns:a="http://schemas.openxmlformats.org/drawingml/2006/main" w="0">
            <a:solidFill>
              <a:srgbClr val="3678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EC253-11FD-456B-A197-80E40097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ToolRegistry 白名单工具 + PlanExecutor</a:t>
            </a:r>
          </a:p>
        </p:txBody>
      </p:sp>
      <p:sp>
        <p:nvSpPr>
          <p:cNvPr id="15" name="align-多轮对话与状态保持">
            <a:extLst xmlns:a="http://schemas.openxmlformats.org/drawingml/2006/main">
              <a:ext uri="{FF2B5EF4-FFF2-40B4-BE49-F238E27FC236}">
                <a16:creationId xmlns:a16="http://schemas.microsoft.com/office/drawing/2014/main" id="{2DE502F7-AFC6-4910-B199-ED7AF9A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2105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1C908-DE3D-4DE4-9A88-AE273A8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3410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8A038"/>
                </a:solidFill>
              </a:defRPr>
            </a:pPr>
            <a:r>
              <a:t>多轮对话与状态保持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B72E-B2AC-4A19-B78D-9997E50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5320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保持成员、房间、上一轮任务、待确认动作等上下文。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ECCBE-189F-47F1-9678-EF2A5D27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05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4B355-033F-4910-B6EA-DFC72078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Session State + SQLite 长期家庭画像</a:t>
            </a:r>
          </a:p>
        </p:txBody>
      </p:sp>
      <p:sp>
        <p:nvSpPr>
          <p:cNvPr id="20" name="align-高效推理与实时响应">
            <a:extLst xmlns:a="http://schemas.openxmlformats.org/drawingml/2006/main">
              <a:ext uri="{FF2B5EF4-FFF2-40B4-BE49-F238E27FC236}">
                <a16:creationId xmlns:a16="http://schemas.microsoft.com/office/drawing/2014/main" id="{79B39346-A2D4-4A94-BBF2-EF44176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5412105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193D7-565C-46FE-BF0F-369FE50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3410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7A56F"/>
                </a:solidFill>
              </a:defRPr>
            </a:pPr>
            <a:r>
              <a:t>高效推理与实时响应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8F0BD-3E46-4B2E-A8B4-5FB98091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55320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有限算力下采用规则优先与量化小模型兜底。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E6654-8BE4-470F-A612-68B046F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05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56F"/>
          </a:solidFill>
          <a:ln xmlns:a="http://schemas.openxmlformats.org/drawingml/2006/main" w="0">
            <a:solidFill>
              <a:srgbClr val="37A5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7BF1F-0CD4-4FCE-A7A3-3C73E52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23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规则毫秒级路径 + Qwen2.5-1.5B Q4_K_M</a:t>
            </a:r>
          </a:p>
        </p:txBody>
      </p:sp>
      <p:sp>
        <p:nvSpPr>
          <p:cNvPr id="25" name="innovation-alignment">
            <a:extLst xmlns:a="http://schemas.openxmlformats.org/drawingml/2006/main">
              <a:ext uri="{FF2B5EF4-FFF2-40B4-BE49-F238E27FC236}">
                <a16:creationId xmlns:a16="http://schemas.microsoft.com/office/drawing/2014/main" id="{5EB1C618-9D53-4958-9154-92C7716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27860"/>
            <a:ext cx="8220075" cy="623697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C065E-8A0A-4526-8B41-9A7CEF4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5265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A6CE0"/>
                </a:solidFill>
              </a:defRPr>
            </a:pPr>
            <a:r>
              <a:t>创新方向落地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32D3E-B4F6-4004-B939-09F66CC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D12CC-06EC-46A8-8DB9-553C4D8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轻量模型意图理解与槽位填充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C5564-D62D-49A7-893A-608ECF9E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99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本地 Qwen 输出结构化 intent、confidence、slots，用于规则未命中的补识别。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54D80-1832-4E61-9E39-5B47F32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3300E-525E-4111-BAAD-637A0DF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端侧 Agent 架构与任务规划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7E4B3-BDD1-4FEF-843C-DF3C70F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766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main.run 统一入口串联 Pipeline、Router、Planner、Executor、ToolRegistry。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872AD-C307-4097-A1E6-41229A1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8ADA1-92D2-4CBD-A77C-326D89D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576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多源场景感知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DB936-6083-440D-9BBE-7B6F66E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传感器、设备、网络、提醒和家庭画像共同形成家庭状态视图。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5EC795-31EA-4CA0-A0C8-A2BB1CA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24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360344-9D7A-4EED-8E51-7A9C215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244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模型量化与低资源部署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E27F7-DA09-4082-837C-9846053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101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Qwen2.5-1.5B-Instruct Q4_K_M GGUF 适配家庭网关/边缘盒子。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C485D-0995-4FB9-ACFD-8D759D7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91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F961DE-C410-4398-8A53-FE7A04E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911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6CE0"/>
                </a:solidFill>
              </a:defRPr>
            </a:pPr>
            <a:r>
              <a:t>本地知识库与检索增强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33C0D-6868-4935-97BD-FE277217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6769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SQLite 保存知识库和家庭规则；无可信命中时不编造。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EB15C4-2F41-4979-919E-EDFD63D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57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FD009-9B73-4ABD-826F-9E7D513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579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6D5B"/>
                </a:solidFill>
              </a:defRPr>
            </a:pPr>
            <a:r>
              <a:t>低资源持续适应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74E1F4-14D6-4BC4-9090-50974EC0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436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长期画像随对话更新，让系统逐步适应家庭成员偏好。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D8CDC-1FB5-460D-BD39-02D629F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93430"/>
            <a:ext cx="16764000" cy="662940"/>
          </a:xfrm>
          <a:prstGeom xmlns:a="http://schemas.openxmlformats.org/drawingml/2006/main" prst="roundRect">
            <a:avLst>
              <a:gd name="adj" fmla="val 14368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340A8F-7BDF-4A4C-9921-F86463EF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72500"/>
            <a:ext cx="1623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t>一句话对齐赛题：在家庭场景中，用端侧轻量模型 + 可控工具链 + 本地状态记忆，完成从理解到执行的智能体闭环。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8C4BA9-3F86-4F0F-ADBD-9B0709B8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C82A1A-C740-40D1-AA1E-7B09382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04/20</a:t>
            </a:r>
          </a:p>
        </p:txBody>
      </p:sp>
    </p:spTree>
    <p:extLst>
      <p:ext uri="{BB962C8B-B14F-4D97-AF65-F5344CB8AC3E}">
        <p14:creationId xmlns:p14="http://schemas.microsoft.com/office/powerpoint/2010/main" val="9354021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core-alignment-bg">
            <a:extLst xmlns:a="http://schemas.openxmlformats.org/drawingml/2006/main">
              <a:ext uri="{FF2B5EF4-FFF2-40B4-BE49-F238E27FC236}">
                <a16:creationId xmlns:a16="http://schemas.microsoft.com/office/drawing/2014/main" id="{637B6B92-55F3-4A33-89CE-3DE1E484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E3C151-9EBB-4AF6-9D92-2B5CFD6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9601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评分维度对齐：五项指标都有可展示证据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7C0664-97E7-4460-86D8-47F4C20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围绕创新、价值、成本、演示和文档五个 20 分维度组织讲述，让作品能力和评分点直接对应。</a:t>
            </a:r>
          </a:p>
        </p:txBody>
      </p:sp>
      <p:sp>
        <p:nvSpPr>
          <p:cNvPr id="4" name="score-创新">
            <a:extLst xmlns:a="http://schemas.openxmlformats.org/drawingml/2006/main">
              <a:ext uri="{FF2B5EF4-FFF2-40B4-BE49-F238E27FC236}">
                <a16:creationId xmlns:a16="http://schemas.microsoft.com/office/drawing/2014/main" id="{F036AA19-D49F-41FC-936B-28F1B935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F1E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E26D6-BE77-4DE3-8D21-DAA0550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A6CE0"/>
                </a:solidFill>
              </a:defRPr>
            </a:pPr>
            <a:r>
              <a:t>创新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A681-A4A1-49EC-8D40-27B58C7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08531-8AFC-480D-B9D1-F47A3D3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从通用问答升级为家庭端侧任务中枢，结合轻量模型、工具规划、长期画像和本地知识。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D16B3-288E-4784-AA18-62B4BAE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E0"/>
          </a:solidFill>
          <a:ln xmlns:a="http://schemas.openxmlformats.org/drawingml/2006/main" w="0">
            <a:solidFill>
              <a:srgbClr val="7A6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4A787-029A-4092-A999-E6E9B71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重点页：能力创新对齐、整体框架、Agent 主链路</a:t>
            </a:r>
          </a:p>
        </p:txBody>
      </p:sp>
      <p:sp>
        <p:nvSpPr>
          <p:cNvPr id="10" name="score-价值">
            <a:extLst xmlns:a="http://schemas.openxmlformats.org/drawingml/2006/main">
              <a:ext uri="{FF2B5EF4-FFF2-40B4-BE49-F238E27FC236}">
                <a16:creationId xmlns:a16="http://schemas.microsoft.com/office/drawing/2014/main" id="{A4EACFEF-CAA8-4BC4-9C8E-0046D3CE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3A12-E457-41AD-806D-197E63B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8F86"/>
                </a:solidFill>
              </a:defRPr>
            </a:pPr>
            <a:r>
              <a:t>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534A3-94E6-4972-8471-7DAB611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88FEF-EA03-49C5-99C6-82250FE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面向三代同堂家庭的真实痛点：老人关怀、睡前联动、网络诊断、主动巡检。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89C79-6FCA-4562-8A69-46A93EB6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  <a:ln xmlns:a="http://schemas.openxmlformats.org/drawingml/2006/main" w="0">
            <a:solidFill>
              <a:srgbClr val="0E8F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04671-3EB7-4C18-9D0B-966B6C3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重点页：产品定位、核心场景、一个晚上里的体验</a:t>
            </a:r>
          </a:p>
        </p:txBody>
      </p:sp>
      <p:sp>
        <p:nvSpPr>
          <p:cNvPr id="16" name="score-成本">
            <a:extLst xmlns:a="http://schemas.openxmlformats.org/drawingml/2006/main">
              <a:ext uri="{FF2B5EF4-FFF2-40B4-BE49-F238E27FC236}">
                <a16:creationId xmlns:a16="http://schemas.microsoft.com/office/drawing/2014/main" id="{5C8C15CD-0F7B-4EBE-A03D-DD936C5E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A8300-5FC3-48A0-9FFD-FDD11FB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7A56F"/>
                </a:solidFill>
              </a:defRPr>
            </a:pPr>
            <a:r>
              <a:t>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CDCE0-0792-41C8-AD54-24B5CB6E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8E8ED-3887-443C-ADB2-48471B9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规则优先降低推理开销，本地量化 Qwen 只在不确定时参与，数据留在 SQLite。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CFB0C-9D82-4272-ABA3-DEB2AD7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56F"/>
          </a:solidFill>
          <a:ln xmlns:a="http://schemas.openxmlformats.org/drawingml/2006/main" w="0">
            <a:solidFill>
              <a:srgbClr val="37A5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0900C-69AA-49FF-B637-EC3F4FD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重点页：端侧可信、模型策略、性能指标</a:t>
            </a:r>
          </a:p>
        </p:txBody>
      </p:sp>
      <p:sp>
        <p:nvSpPr>
          <p:cNvPr id="22" name="score-演示">
            <a:extLst xmlns:a="http://schemas.openxmlformats.org/drawingml/2006/main">
              <a:ext uri="{FF2B5EF4-FFF2-40B4-BE49-F238E27FC236}">
                <a16:creationId xmlns:a16="http://schemas.microsoft.com/office/drawing/2014/main" id="{051F7E31-9C29-4FA6-AB2F-9C881CC8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49640-846D-432D-BD2C-765490DC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78D5"/>
                </a:solidFill>
              </a:defRPr>
            </a:pPr>
            <a:r>
              <a:t>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3A7DE-4717-4841-903D-A9115672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53415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373A9-A13E-45D4-9DFD-4ADE1F8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24700"/>
            <a:ext cx="5029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有可运行 Web Demo，能看到快捷场景、意图、DAG、工具日志、设备和传感器状态。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4902F6-DB66-4220-B5E0-0C85EC2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9057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  <a:ln xmlns:a="http://schemas.openxmlformats.org/drawingml/2006/main" w="0">
            <a:solidFill>
              <a:srgbClr val="3678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F3403-43D4-4EBD-86C8-C9899D5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200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重点页：演示界面、功能展示一至四</a:t>
            </a:r>
          </a:p>
        </p:txBody>
      </p:sp>
      <p:sp>
        <p:nvSpPr>
          <p:cNvPr id="28" name="score-文档">
            <a:extLst xmlns:a="http://schemas.openxmlformats.org/drawingml/2006/main">
              <a:ext uri="{FF2B5EF4-FFF2-40B4-BE49-F238E27FC236}">
                <a16:creationId xmlns:a16="http://schemas.microsoft.com/office/drawing/2014/main" id="{F3A89156-A246-4540-BA78-176F50FA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B49739-FA90-4566-BC00-896BB94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7246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A038"/>
                </a:solidFill>
              </a:defRPr>
            </a:pPr>
            <a:r>
              <a:t>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3C435-31BC-4EBD-ABF7-76B1D22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64845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AB64D-310B-43D6-BA08-041A72C5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2390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方案文档、接口文档、技术说明、PPT 与 Demo 口径一致，能追溯到代码模块。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F1C0B-4388-47BD-A9D9-50FDEE4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7914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D90115-945E-4CCC-ABEE-DBC1C81E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9057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重点页：接口契约、工具注册表、状态记忆、框架图</a:t>
            </a:r>
          </a:p>
        </p:txBody>
      </p:sp>
      <p:sp>
        <p:nvSpPr>
          <p:cNvPr id="34" name="score-sum">
            <a:extLst xmlns:a="http://schemas.openxmlformats.org/drawingml/2006/main">
              <a:ext uri="{FF2B5EF4-FFF2-40B4-BE49-F238E27FC236}">
                <a16:creationId xmlns:a16="http://schemas.microsoft.com/office/drawing/2014/main" id="{82627296-D4DF-4557-AC5D-DD28D66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11F465-81C0-44D1-8952-43E8490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8770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t>总分逻辑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A6BDD-8000-461B-9E0D-209DD550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4104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E7E4"/>
                </a:solidFill>
              </a:defRPr>
            </a:pPr>
            <a:r>
              <a:t>每个评分维度都对应可讲的产品价值、可看的 Demo 页面、可追踪的工程实现和可验证的本地运行证据。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40B021-DAE3-4C20-BBB5-355BFC4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9ABF6-1DC0-4D79-B75E-11D4482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05/20</a:t>
            </a:r>
          </a:p>
        </p:txBody>
      </p:sp>
    </p:spTree>
    <p:extLst>
      <p:ext uri="{BB962C8B-B14F-4D97-AF65-F5344CB8AC3E}">
        <p14:creationId xmlns:p14="http://schemas.microsoft.com/office/powerpoint/2010/main" val="20832622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cenarios-bg">
            <a:extLst xmlns:a="http://schemas.openxmlformats.org/drawingml/2006/main">
              <a:ext uri="{FF2B5EF4-FFF2-40B4-BE49-F238E27FC236}">
                <a16:creationId xmlns:a16="http://schemas.microsoft.com/office/drawing/2014/main" id="{C45F7B0B-CBE7-4C70-BBE5-9ED45C63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9028FF-7B94-4D31-9452-6C2EDC0D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核心场景能力：四类家庭任务闭环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E971A0-AA65-4A5C-A4C7-5F37C1A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43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自然语言进入规划与执行，过程呈现意图、DAG 与工具日志</a:t>
            </a:r>
          </a:p>
        </p:txBody>
      </p:sp>
      <p:sp>
        <p:nvSpPr>
          <p:cNvPr id="4" name="scene-elder">
            <a:extLst xmlns:a="http://schemas.openxmlformats.org/drawingml/2006/main">
              <a:ext uri="{FF2B5EF4-FFF2-40B4-BE49-F238E27FC236}">
                <a16:creationId xmlns:a16="http://schemas.microsoft.com/office/drawing/2014/main" id="{435EDD29-E964-4C1A-989F-143C3F2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7779A-04C9-4476-B250-0ED07C5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老人关怀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AC3BA-266E-4E8B-BE6C-1F00ABE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吃药提醒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完成/取消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未响应复提醒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老人房状态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06F2-0933-4D77-BB90-75F3A9B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工具：reminder.* / sensor.query</a:t>
            </a:r>
          </a:p>
        </p:txBody>
      </p:sp>
      <p:sp>
        <p:nvSpPr>
          <p:cNvPr id="8" name="scene-sleep">
            <a:extLst xmlns:a="http://schemas.openxmlformats.org/drawingml/2006/main">
              <a:ext uri="{FF2B5EF4-FFF2-40B4-BE49-F238E27FC236}">
                <a16:creationId xmlns:a16="http://schemas.microsoft.com/office/drawing/2014/main" id="{DA2AF3CD-E078-4A46-B526-ACC1082C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DCD3E-F473-4F3C-9228-22A47D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睡前联动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B3DDA-6CFD-408D-9C31-A94BBBD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关电视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调暗灯光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空调睡眠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检查门锁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40660-2E2B-482A-B0EE-16500C2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工具：scene.apply / device.query</a:t>
            </a:r>
          </a:p>
        </p:txBody>
      </p:sp>
      <p:sp>
        <p:nvSpPr>
          <p:cNvPr id="12" name="scene-net">
            <a:extLst xmlns:a="http://schemas.openxmlformats.org/drawingml/2006/main">
              <a:ext uri="{FF2B5EF4-FFF2-40B4-BE49-F238E27FC236}">
                <a16:creationId xmlns:a16="http://schemas.microsoft.com/office/drawing/2014/main" id="{7B3001CA-493C-4E26-A3D2-EED2FF3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E3D84-039C-4B4A-AA8F-5CC1D9F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678D5"/>
                </a:solidFill>
              </a:defRPr>
            </a:pPr>
            <a:r>
              <a:t>网络 QoS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7034C-E9AA-46BD-9130-6D656BA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视频卡顿诊断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Mesh 信号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带宽占用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老人优先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FBB07-344F-48E2-A281-3B88139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工具：network.diagnose / apply_qos</a:t>
            </a:r>
          </a:p>
        </p:txBody>
      </p:sp>
      <p:sp>
        <p:nvSpPr>
          <p:cNvPr id="16" name="scene-safe">
            <a:extLst xmlns:a="http://schemas.openxmlformats.org/drawingml/2006/main">
              <a:ext uri="{FF2B5EF4-FFF2-40B4-BE49-F238E27FC236}">
                <a16:creationId xmlns:a16="http://schemas.microsoft.com/office/drawing/2014/main" id="{2C16E864-801A-425B-831D-47A09F2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7DA32-528E-426B-AF92-9FA5F86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主动巡检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D9948-BD3F-4DEC-B37E-37C7697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全屋传感器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低温/久未活动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异常提示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安全确认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10308-2DFD-4385-B39E-39BE793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工具：sensor.* / safety.check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DEB46-6DC8-4266-AE0B-13C524C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648D2-5A4C-41D9-927A-157616AA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06/20</a:t>
            </a:r>
          </a:p>
        </p:txBody>
      </p:sp>
    </p:spTree>
    <p:extLst>
      <p:ext uri="{BB962C8B-B14F-4D97-AF65-F5344CB8AC3E}">
        <p14:creationId xmlns:p14="http://schemas.microsoft.com/office/powerpoint/2010/main" val="1786107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ourney-bg">
            <a:extLst xmlns:a="http://schemas.openxmlformats.org/drawingml/2006/main">
              <a:ext uri="{FF2B5EF4-FFF2-40B4-BE49-F238E27FC236}">
                <a16:creationId xmlns:a16="http://schemas.microsoft.com/office/drawing/2014/main" id="{FC808BE2-7F33-440E-ABEB-67073CE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41CA89-86A7-46D2-9F3C-4C83EEE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一个晚上里的产品体验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19B9E0-0472-4913-933E-6906B03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将核心能力组织到家庭时间线中，形成围绕家庭日常的持续服务体验。</a:t>
            </a:r>
          </a:p>
        </p:txBody>
      </p:sp>
      <p:sp>
        <p:nvSpPr>
          <p:cNvPr id="4" name="step-mark-19:30">
            <a:extLst xmlns:a="http://schemas.openxmlformats.org/drawingml/2006/main">
              <a:ext uri="{FF2B5EF4-FFF2-40B4-BE49-F238E27FC236}">
                <a16:creationId xmlns:a16="http://schemas.microsoft.com/office/drawing/2014/main" id="{589070AE-4860-4687-B3A1-AA9B058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A3289-0542-47CA-88AA-AED30D3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6CE0"/>
                </a:solidFill>
              </a:defRPr>
            </a:pPr>
            <a:r>
              <a:t>19:30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F1351-A569-4AC5-9768-45295940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孩子学习模式：灯光护眼，45 分钟后休息提醒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9215B-7B34-4EF4-BE51-4B9FD6A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8" name="step-mark-20:30">
            <a:extLst xmlns:a="http://schemas.openxmlformats.org/drawingml/2006/main">
              <a:ext uri="{FF2B5EF4-FFF2-40B4-BE49-F238E27FC236}">
                <a16:creationId xmlns:a16="http://schemas.microsoft.com/office/drawing/2014/main" id="{0339263F-B1FA-4B32-A56E-A424C6B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2D700-D400-467F-8D51-A3C2E82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20:30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5ADE3-9EE6-4E1D-A962-5D7AC66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老人房视频卡顿：诊断并开启老人房 QoS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38C44-6AFE-4D4D-9E44-086ACEB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2" name="step-mark-21:00">
            <a:extLst xmlns:a="http://schemas.openxmlformats.org/drawingml/2006/main">
              <a:ext uri="{FF2B5EF4-FFF2-40B4-BE49-F238E27FC236}">
                <a16:creationId xmlns:a16="http://schemas.microsoft.com/office/drawing/2014/main" id="{64265047-BE69-4D35-B48C-0D1AB6F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BB87-4BC0-4C3A-A402-7BD91C1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21:00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BF9D7-4028-4B45-975E-C799406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1943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爷爷吃药提醒：未回应 10 分钟后再次提醒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6F9CD-071B-4D16-B0EB-B526727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6" name="step-mark-22:30">
            <a:extLst xmlns:a="http://schemas.openxmlformats.org/drawingml/2006/main">
              <a:ext uri="{FF2B5EF4-FFF2-40B4-BE49-F238E27FC236}">
                <a16:creationId xmlns:a16="http://schemas.microsoft.com/office/drawing/2014/main" id="{72C1AB00-958A-49D1-9E0E-8477357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1CA27-0EB4-47FE-A32E-72B0FB9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22:30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19739-8F59-4B10-A021-7212666E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睡前模式：设备联动、门锁检查、老人状态确认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E36A1-3CDF-4080-A365-53B55F7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20" name="step-mark-夜间">
            <a:extLst xmlns:a="http://schemas.openxmlformats.org/drawingml/2006/main">
              <a:ext uri="{FF2B5EF4-FFF2-40B4-BE49-F238E27FC236}">
                <a16:creationId xmlns:a16="http://schemas.microsoft.com/office/drawing/2014/main" id="{E65F18E2-72B7-44A3-828E-B1D6F107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DDA24-397D-4640-BDD1-DBDA677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44577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夜间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5D267-8EC6-4382-BB12-98D5C34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主动巡检：低温、长时间无活动、安全异常提示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ECC49-8E17-41A5-B5A1-49D5816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93230"/>
            <a:ext cx="16649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051D4-5526-4A2E-9D98-45A6C4B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48500"/>
            <a:ext cx="1600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12D"/>
                </a:solidFill>
              </a:defRPr>
            </a:pPr>
            <a:r>
              <a:t>产品体验：同一套 Agent 能跨越成员、房间、设备、网络、提醒和知识，减少多个 App 之间的切换。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5DE8F-3055-449E-89E6-1642987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6480D-8619-44BC-9E18-9867F7A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07/20</a:t>
            </a:r>
          </a:p>
        </p:txBody>
      </p:sp>
    </p:spTree>
    <p:extLst>
      <p:ext uri="{BB962C8B-B14F-4D97-AF65-F5344CB8AC3E}">
        <p14:creationId xmlns:p14="http://schemas.microsoft.com/office/powerpoint/2010/main" val="2012160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rface-bg">
            <a:extLst xmlns:a="http://schemas.openxmlformats.org/drawingml/2006/main">
              <a:ext uri="{FF2B5EF4-FFF2-40B4-BE49-F238E27FC236}">
                <a16:creationId xmlns:a16="http://schemas.microsoft.com/office/drawing/2014/main" id="{46A5CD66-F493-4A1E-96D5-4FAFE3B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C34C-B62B-4A2F-9981-537061AF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858000" cy="8572500"/>
          </a:xfrm>
          <a:prstGeom xmlns:a="http://schemas.openxmlformats.org/drawingml/2006/main" prst="roundRect">
            <a:avLst>
              <a:gd name="adj" fmla="val 36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7D44-4442-4C83-BC90-EE7EB322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D"/>
                </a:solidFill>
              </a:defRPr>
            </a:pPr>
            <a:r>
              <a:t>🏠 兴享智家 · 慧家中枢</a:t>
            </a:r>
          </a:p>
        </p:txBody>
      </p:sp>
      <p:sp>
        <p:nvSpPr>
          <p:cNvPr id="4" name="chip-自动闭环">
            <a:extLst xmlns:a="http://schemas.openxmlformats.org/drawingml/2006/main">
              <a:ext uri="{FF2B5EF4-FFF2-40B4-BE49-F238E27FC236}">
                <a16:creationId xmlns:a16="http://schemas.microsoft.com/office/drawing/2014/main" id="{7D2CDC3E-E6DA-4C9F-98F6-2D0486CE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1028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B8A9C-7ED7-46CF-8DB8-3D23DB9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2192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自动闭环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28236-1CAB-494B-B345-BEDA620E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端侧 Agent · 规则路由优先 · 本地小模型兜底 · SQLite 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768D9-8BAF-4006-AC7E-3B55BA7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8360"/>
            <a:ext cx="6591300" cy="577596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D34CE-60AA-438F-B83A-E328719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6CE0"/>
                </a:solidFill>
              </a:defRPr>
            </a:pPr>
            <a:r>
              <a:t>对话窗口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71176-64EF-4B9E-9F57-7086B42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CF461-804A-4F07-A0FF-1C032E5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看看老人房现在怎么样？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259C6-3319-4130-8D77-750398A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3886581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B11D2-7898-4793-B490-8F6D5A3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3543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老人房当前温度 17.5℃，湿度 60%，已 130 分钟无人活动。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557E9-D43F-46BF-B383-EFC77AD5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C6BCA-D06E-4544-B769-F3D78AC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先保证爷爷那边。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F74F6-623E-4D35-9BCE-5F8051A7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05107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59041-629E-482F-B009-B166CEA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已开启老人房视频优先策略，持续 60 分钟。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02A33-E566-4D2B-9C47-1BA3506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46720"/>
            <a:ext cx="3219450" cy="1249680"/>
          </a:xfrm>
          <a:prstGeom xmlns:a="http://schemas.openxmlformats.org/drawingml/2006/main" prst="roundRect">
            <a:avLst>
              <a:gd name="adj" fmla="val 91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0C8D1-D03C-4A42-BAE4-9BA4D5A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724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模型与意图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1852F-ADAC-48A8-A547-D64D182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9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229EB-43CE-446E-8A9E-913D36E8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4582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C9432-28C9-47D6-8632-FBB7831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458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规则 / 本地 Qwen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26360-DB74-4F83-832A-2E8CD9F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76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039B2-044D-463F-9DD9-A6319C6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249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1D14B-535B-4D4A-B9CB-BB5456A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7249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sensor_query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D40C1-7E0F-4882-96C8-378A236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010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8024E-5F91-41D3-8EF0-AC40414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72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耗时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E9F95-5A62-4126-8CBC-27721E71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9725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2 ms / 2070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229D2-C5CB-4D97-B71B-0EA17543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046720"/>
            <a:ext cx="3219450" cy="1249680"/>
          </a:xfrm>
          <a:prstGeom xmlns:a="http://schemas.openxmlformats.org/drawingml/2006/main" prst="roundRect">
            <a:avLst>
              <a:gd name="adj" fmla="val 91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F5702-FE74-4819-AE1B-0869DCA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1724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工具轨迹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D5B06-EC42-494C-AF77-A0BBE4F0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49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45C1F-B0AC-4E40-ACAE-BCE32AF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4582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3A2AA-4EE1-4957-9088-8E88D59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458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home_profile.query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4D1B2-38F6-42C1-89FF-A166534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76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D2EE0-EB8B-491E-92C7-26EC8CB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7249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898F83-A4E6-4BA8-AB81-C1084A7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7249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sensor.query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C8E025-F8E2-4D9A-B605-0C03D854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010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49BA2-04F7-44B0-B216-20E5675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972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BBF0D-0CF7-4B68-A649-B6E715D7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9725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device.query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F38F86-75A6-4D18-B211-0C24708A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6400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演示界面：智能体过程可见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BB44ED-3624-4209-A1D5-072539D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9163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界面围绕智能体运行过程设计，让用户能够看到每轮请求的理解、执行和状态变化。</a:t>
            </a:r>
          </a:p>
        </p:txBody>
      </p:sp>
      <p:sp>
        <p:nvSpPr>
          <p:cNvPr id="41" name="dot">
            <a:extLst xmlns:a="http://schemas.openxmlformats.org/drawingml/2006/main">
              <a:ext uri="{FF2B5EF4-FFF2-40B4-BE49-F238E27FC236}">
                <a16:creationId xmlns:a16="http://schemas.microsoft.com/office/drawing/2014/main" id="{0BFB17C8-A42F-4B9C-AF97-605E94B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ED5CB-73DE-49E9-9B4F-B3E49F55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对话窗口：用户自然语言和最终解释回复。</a:t>
            </a:r>
          </a:p>
        </p:txBody>
      </p:sp>
      <p:sp>
        <p:nvSpPr>
          <p:cNvPr id="43" name="dot">
            <a:extLst xmlns:a="http://schemas.openxmlformats.org/drawingml/2006/main">
              <a:ext uri="{FF2B5EF4-FFF2-40B4-BE49-F238E27FC236}">
                <a16:creationId xmlns:a16="http://schemas.microsoft.com/office/drawing/2014/main" id="{691C617C-0814-48EA-9FBF-E754D4F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0C5408-9979-4DFD-8295-2588F1D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运行策略：自动闭环、规则调试、强制模型识别调试。</a:t>
            </a:r>
          </a:p>
        </p:txBody>
      </p:sp>
      <p:sp>
        <p:nvSpPr>
          <p:cNvPr id="45" name="dot">
            <a:extLst xmlns:a="http://schemas.openxmlformats.org/drawingml/2006/main">
              <a:ext uri="{FF2B5EF4-FFF2-40B4-BE49-F238E27FC236}">
                <a16:creationId xmlns:a16="http://schemas.microsoft.com/office/drawing/2014/main" id="{A9E1635A-432C-4004-968A-DAD23E3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E80DFB-D00A-4E0D-A958-0D62A47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244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意图来源：规则或本地模型，置信度和理由可见。</a:t>
            </a:r>
          </a:p>
        </p:txBody>
      </p:sp>
      <p:sp>
        <p:nvSpPr>
          <p:cNvPr id="47" name="dot">
            <a:extLst xmlns:a="http://schemas.openxmlformats.org/drawingml/2006/main">
              <a:ext uri="{FF2B5EF4-FFF2-40B4-BE49-F238E27FC236}">
                <a16:creationId xmlns:a16="http://schemas.microsoft.com/office/drawing/2014/main" id="{4B9CB954-DE72-4B5F-9C23-93134C76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9E23AD-CB5B-458E-9FE3-9C25263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816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任务规划 DAG：展示任务拆解和依赖关系。</a:t>
            </a:r>
          </a:p>
        </p:txBody>
      </p:sp>
      <p:sp>
        <p:nvSpPr>
          <p:cNvPr id="49" name="dot">
            <a:extLst xmlns:a="http://schemas.openxmlformats.org/drawingml/2006/main">
              <a:ext uri="{FF2B5EF4-FFF2-40B4-BE49-F238E27FC236}">
                <a16:creationId xmlns:a16="http://schemas.microsoft.com/office/drawing/2014/main" id="{AE57EB67-61A0-49A0-BE4D-8DC4B62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060001-085F-4A1C-ABE5-EBBAA97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388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工具日志：展示每个工具的参数、耗时和结果。</a:t>
            </a:r>
          </a:p>
        </p:txBody>
      </p:sp>
      <p:sp>
        <p:nvSpPr>
          <p:cNvPr id="51" name="dot">
            <a:extLst xmlns:a="http://schemas.openxmlformats.org/drawingml/2006/main">
              <a:ext uri="{FF2B5EF4-FFF2-40B4-BE49-F238E27FC236}">
                <a16:creationId xmlns:a16="http://schemas.microsoft.com/office/drawing/2014/main" id="{C09FE68F-9856-480B-841E-99BCBF7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2AB0B7-9B18-45AC-9EAD-BCE48E1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4960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长期画像：家庭成员偏好随对话持久更新。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C36953-59F6-45DC-89C5-C3E1078C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FE161-8A04-4510-9AA4-A6000E2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08/20</a:t>
            </a:r>
          </a:p>
        </p:txBody>
      </p:sp>
    </p:spTree>
    <p:extLst>
      <p:ext uri="{BB962C8B-B14F-4D97-AF65-F5344CB8AC3E}">
        <p14:creationId xmlns:p14="http://schemas.microsoft.com/office/powerpoint/2010/main" val="19910385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shortcuts-bg">
            <a:extLst xmlns:a="http://schemas.openxmlformats.org/drawingml/2006/main">
              <a:ext uri="{FF2B5EF4-FFF2-40B4-BE49-F238E27FC236}">
                <a16:creationId xmlns:a16="http://schemas.microsoft.com/office/drawing/2014/main" id="{1ED4C981-4713-4D06-9D49-D569D97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8EA676-5E37-4C74-A531-F1DDB69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功能展示一：快捷场景与运行策略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C6F11C-5B92-40FC-907A-5CABBAA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7258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Demo 首页不是静态展示板，快捷按钮会把真实指令送入同一个 run 入口；运行策略用于现场对比规则路径与本地模型路径。</a:t>
            </a:r>
          </a:p>
        </p:txBody>
      </p:sp>
      <p:sp>
        <p:nvSpPr>
          <p:cNvPr id="4" name="shortcut-surface">
            <a:extLst xmlns:a="http://schemas.openxmlformats.org/drawingml/2006/main">
              <a:ext uri="{FF2B5EF4-FFF2-40B4-BE49-F238E27FC236}">
                <a16:creationId xmlns:a16="http://schemas.microsoft.com/office/drawing/2014/main" id="{7B4FAFE6-B1A6-4B16-A3EC-DF62164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3140"/>
            <a:ext cx="9525000" cy="675513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4C1C0-D82A-4ED1-81E4-436A96C2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828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🎯 快捷场景</a:t>
            </a:r>
          </a:p>
        </p:txBody>
      </p:sp>
      <p:sp>
        <p:nvSpPr>
          <p:cNvPr id="6" name="chip-真实输入模板">
            <a:extLst xmlns:a="http://schemas.openxmlformats.org/drawingml/2006/main">
              <a:ext uri="{FF2B5EF4-FFF2-40B4-BE49-F238E27FC236}">
                <a16:creationId xmlns:a16="http://schemas.microsoft.com/office/drawing/2014/main" id="{3838F1CC-EF06-41C7-90D7-C1F425B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1371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878DC-D7A7-472F-AC7A-AAD5D253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真实输入模板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6B5A5-2276-4A9C-ADE9-25BCB998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9480"/>
            <a:ext cx="8991600" cy="518160"/>
          </a:xfrm>
          <a:prstGeom xmlns:a="http://schemas.openxmlformats.org/drawingml/2006/main" prst="roundRect">
            <a:avLst>
              <a:gd name="adj" fmla="val 18382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7FABB-B70D-4511-B9D8-1D03B50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864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例如：爷爷房间视频有点卡，帮我看看。</a:t>
            </a:r>
          </a:p>
        </p:txBody>
      </p:sp>
      <p:sp>
        <p:nvSpPr>
          <p:cNvPr id="10" name="shortcut-睡前模式">
            <a:extLst xmlns:a="http://schemas.openxmlformats.org/drawingml/2006/main">
              <a:ext uri="{FF2B5EF4-FFF2-40B4-BE49-F238E27FC236}">
                <a16:creationId xmlns:a16="http://schemas.microsoft.com/office/drawing/2014/main" id="{73622FFE-E82B-4657-AB64-1571F06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81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BAB9F-252D-42F2-BD94-589860E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BD0ED-7164-4736-8F61-3AE9D1A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睡前模式</a:t>
            </a:r>
          </a:p>
        </p:txBody>
      </p:sp>
      <p:sp>
        <p:nvSpPr>
          <p:cNvPr id="13" name="shortcut-离家模式">
            <a:extLst xmlns:a="http://schemas.openxmlformats.org/drawingml/2006/main">
              <a:ext uri="{FF2B5EF4-FFF2-40B4-BE49-F238E27FC236}">
                <a16:creationId xmlns:a16="http://schemas.microsoft.com/office/drawing/2014/main" id="{5C4F0166-1A39-47F9-826B-923ACE5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681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6B79B-573B-4EED-99A3-7500DE8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467AF-5EAC-4F86-9772-C1EB958B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离家模式</a:t>
            </a:r>
          </a:p>
        </p:txBody>
      </p:sp>
      <p:sp>
        <p:nvSpPr>
          <p:cNvPr id="16" name="shortcut-观影模式">
            <a:extLst xmlns:a="http://schemas.openxmlformats.org/drawingml/2006/main">
              <a:ext uri="{FF2B5EF4-FFF2-40B4-BE49-F238E27FC236}">
                <a16:creationId xmlns:a16="http://schemas.microsoft.com/office/drawing/2014/main" id="{67154F82-D5C3-4C58-8675-D8019D5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58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4B80F-9EDB-422B-88D7-58C395F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A64FF-2D5D-4FE9-B03C-3921364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观影模式</a:t>
            </a:r>
          </a:p>
        </p:txBody>
      </p:sp>
      <p:sp>
        <p:nvSpPr>
          <p:cNvPr id="19" name="shortcut-网络诊断">
            <a:extLst xmlns:a="http://schemas.openxmlformats.org/drawingml/2006/main">
              <a:ext uri="{FF2B5EF4-FFF2-40B4-BE49-F238E27FC236}">
                <a16:creationId xmlns:a16="http://schemas.microsoft.com/office/drawing/2014/main" id="{14407999-F651-4F2F-8049-66C19041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158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36467-C579-4264-BE66-3542276F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03155-DEDF-4F3D-BBD7-3B3E1FA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720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网络诊断</a:t>
            </a:r>
          </a:p>
        </p:txBody>
      </p:sp>
      <p:sp>
        <p:nvSpPr>
          <p:cNvPr id="22" name="shortcut-老人巡检">
            <a:extLst xmlns:a="http://schemas.openxmlformats.org/drawingml/2006/main">
              <a:ext uri="{FF2B5EF4-FFF2-40B4-BE49-F238E27FC236}">
                <a16:creationId xmlns:a16="http://schemas.microsoft.com/office/drawing/2014/main" id="{884C828F-73F3-46CE-8DFE-685E692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35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5FDD8-9535-4D42-A17C-3199038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55DE4-32A5-4158-89F5-3B9D7C7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老人巡检</a:t>
            </a:r>
          </a:p>
        </p:txBody>
      </p:sp>
      <p:sp>
        <p:nvSpPr>
          <p:cNvPr id="25" name="shortcut-一键巡检">
            <a:extLst xmlns:a="http://schemas.openxmlformats.org/drawingml/2006/main">
              <a:ext uri="{FF2B5EF4-FFF2-40B4-BE49-F238E27FC236}">
                <a16:creationId xmlns:a16="http://schemas.microsoft.com/office/drawing/2014/main" id="{2C51B3D9-097A-4270-8D8C-CF51132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4635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48B2E-1BB8-4BA5-86BC-C085A4A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9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A3BF8-DCCC-4C9D-A204-C18006F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197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一键巡检</a:t>
            </a:r>
          </a:p>
        </p:txBody>
      </p:sp>
      <p:sp>
        <p:nvSpPr>
          <p:cNvPr id="28" name="shortcut-儿童学习">
            <a:extLst xmlns:a="http://schemas.openxmlformats.org/drawingml/2006/main">
              <a:ext uri="{FF2B5EF4-FFF2-40B4-BE49-F238E27FC236}">
                <a16:creationId xmlns:a16="http://schemas.microsoft.com/office/drawing/2014/main" id="{ACF52218-3216-43DF-B396-4CB8E5C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12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774FD-6972-4254-96CF-8CA8BB4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0868E-20DF-470C-A6AB-75050043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674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儿童学习</a:t>
            </a:r>
          </a:p>
        </p:txBody>
      </p:sp>
      <p:sp>
        <p:nvSpPr>
          <p:cNvPr id="31" name="shortcut-能耗查询">
            <a:extLst xmlns:a="http://schemas.openxmlformats.org/drawingml/2006/main">
              <a:ext uri="{FF2B5EF4-FFF2-40B4-BE49-F238E27FC236}">
                <a16:creationId xmlns:a16="http://schemas.microsoft.com/office/drawing/2014/main" id="{593FD292-116C-446B-A254-759173B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1112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6C0E4-0006-4B7C-A5EC-637C3F1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1FFC0-2A3B-4232-956A-AB0C1BD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674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能耗查询</a:t>
            </a:r>
          </a:p>
        </p:txBody>
      </p:sp>
      <p:sp>
        <p:nvSpPr>
          <p:cNvPr id="34" name="shortcut-吃药提醒">
            <a:extLst xmlns:a="http://schemas.openxmlformats.org/drawingml/2006/main">
              <a:ext uri="{FF2B5EF4-FFF2-40B4-BE49-F238E27FC236}">
                <a16:creationId xmlns:a16="http://schemas.microsoft.com/office/drawing/2014/main" id="{268D1272-C1D3-4838-98AF-ABF0EDC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589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35D70-0B8C-4E6B-858D-BB6D74F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9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36E9A-8F8E-4557-946E-A81780EE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吃药提醒</a:t>
            </a:r>
          </a:p>
        </p:txBody>
      </p:sp>
      <p:sp>
        <p:nvSpPr>
          <p:cNvPr id="37" name="shortcut-敏感动作">
            <a:extLst xmlns:a="http://schemas.openxmlformats.org/drawingml/2006/main">
              <a:ext uri="{FF2B5EF4-FFF2-40B4-BE49-F238E27FC236}">
                <a16:creationId xmlns:a16="http://schemas.microsoft.com/office/drawing/2014/main" id="{0C973580-02F4-48D6-8E1C-99076C0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7589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1EB80B-16F9-4916-86CB-ECC60F5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99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113B57-7065-444B-B585-56F812B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9151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敏感动作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E7C24-CBE5-4770-9591-2087FE7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86650"/>
            <a:ext cx="899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展示价值：一键触发主线场景，避免现场反复输入长句；每个按钮背后仍走完整 Agent 流程。</a:t>
            </a:r>
          </a:p>
        </p:txBody>
      </p:sp>
      <p:sp>
        <p:nvSpPr>
          <p:cNvPr id="41" name="strategy-自动闭环（推荐）">
            <a:extLst xmlns:a="http://schemas.openxmlformats.org/drawingml/2006/main">
              <a:ext uri="{FF2B5EF4-FFF2-40B4-BE49-F238E27FC236}">
                <a16:creationId xmlns:a16="http://schemas.microsoft.com/office/drawing/2014/main" id="{8F2C1AB0-7082-41EE-866D-F4036C6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6314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EA7CC-59DE-4C42-B29A-3D7FBD80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0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F2EF4D-2B90-4C13-A622-482AB1D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1935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自动闭环（推荐）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06424-1EAF-409E-902D-FDB43EBD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4320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规则优先；规则不确定时调用本地 Qwen 补识别，识别后继续走工具。</a:t>
            </a:r>
          </a:p>
        </p:txBody>
      </p:sp>
      <p:sp>
        <p:nvSpPr>
          <p:cNvPr id="45" name="strategy-规则仅调试（关闭模型）">
            <a:extLst xmlns:a="http://schemas.openxmlformats.org/drawingml/2006/main">
              <a:ext uri="{FF2B5EF4-FFF2-40B4-BE49-F238E27FC236}">
                <a16:creationId xmlns:a16="http://schemas.microsoft.com/office/drawing/2014/main" id="{F8AA9C38-20C1-4E63-ADBA-8BCFDBD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7660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E3B2F6-BEAC-4B0C-9D65-970B6982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3D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75DD57-9B23-4AC8-BD52-1B60B61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规则仅调试（关闭模型）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FE14E9-1813-4CE7-9A5D-50DE2400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528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用于展示低延迟规则路径，也能证明没有模型时核心场景仍可运行。</a:t>
            </a:r>
          </a:p>
        </p:txBody>
      </p:sp>
      <p:sp>
        <p:nvSpPr>
          <p:cNvPr id="49" name="strategy-调试：强制模型识别（仍走工具）">
            <a:extLst xmlns:a="http://schemas.openxmlformats.org/drawingml/2006/main">
              <a:ext uri="{FF2B5EF4-FFF2-40B4-BE49-F238E27FC236}">
                <a16:creationId xmlns:a16="http://schemas.microsoft.com/office/drawing/2014/main" id="{B612287E-13A6-486F-8040-A0ACE358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9006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B178B4-0507-47A1-9CCD-F55C5F8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57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3DE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EF6198-0966-4C61-B58D-7FD1F39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3865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调试：强制模型识别（仍走工具）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87D56E-CA54-49E0-A030-80C9303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815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用于现场稳定触发 local_llm，展示模型参与但最终回复来自工具结果。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04737C-C079-4875-87D1-B06A18F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303520"/>
            <a:ext cx="685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AA7D5C-085F-4330-8C38-7EC31F97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72200"/>
            <a:ext cx="636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E8F86"/>
                </a:solidFill>
              </a:defRPr>
            </a:pPr>
            <a:r>
              <a:t>策略设计</a:t>
            </a:r>
          </a:p>
        </p:txBody>
      </p:sp>
      <p:sp>
        <p:nvSpPr>
          <p:cNvPr id="55" name="dot">
            <a:extLst xmlns:a="http://schemas.openxmlformats.org/drawingml/2006/main">
              <a:ext uri="{FF2B5EF4-FFF2-40B4-BE49-F238E27FC236}">
                <a16:creationId xmlns:a16="http://schemas.microsoft.com/office/drawing/2014/main" id="{378BB297-249C-4C98-8477-6BFA21DE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70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CDC9B-C046-430E-A325-065B3E66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056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同一个问题可对比规则、本地模型、自动闭环三种路径。</a:t>
            </a:r>
          </a:p>
        </p:txBody>
      </p:sp>
      <p:sp>
        <p:nvSpPr>
          <p:cNvPr id="57" name="dot">
            <a:extLst xmlns:a="http://schemas.openxmlformats.org/drawingml/2006/main">
              <a:ext uri="{FF2B5EF4-FFF2-40B4-BE49-F238E27FC236}">
                <a16:creationId xmlns:a16="http://schemas.microsoft.com/office/drawing/2014/main" id="{D5A124A9-8FD9-4625-B36A-763AB5B9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14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5144EF-5173-4327-9D44-77D38AD2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143750"/>
            <a:ext cx="609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本地模型只负责补识别或直接回答兜底，家庭任务仍由工具执行。</a:t>
            </a:r>
          </a:p>
        </p:txBody>
      </p:sp>
      <p:sp>
        <p:nvSpPr>
          <p:cNvPr id="59" name="dot">
            <a:extLst xmlns:a="http://schemas.openxmlformats.org/drawingml/2006/main">
              <a:ext uri="{FF2B5EF4-FFF2-40B4-BE49-F238E27FC236}">
                <a16:creationId xmlns:a16="http://schemas.microsoft.com/office/drawing/2014/main" id="{BA69C7B6-4D2E-4776-852B-2BEF4C75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86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A91355-B896-47EA-B0AC-8929163C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86765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右侧会同步展示意图来源、模型耗时和是否降级。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AC8D8C-00B0-4176-8D4A-9E60537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23CB3F-5663-4702-9C01-15D2630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09/20</a:t>
            </a:r>
          </a:p>
        </p:txBody>
      </p:sp>
    </p:spTree>
    <p:extLst>
      <p:ext uri="{BB962C8B-B14F-4D97-AF65-F5344CB8AC3E}">
        <p14:creationId xmlns:p14="http://schemas.microsoft.com/office/powerpoint/2010/main" val="8870729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memory-bg">
            <a:extLst xmlns:a="http://schemas.openxmlformats.org/drawingml/2006/main">
              <a:ext uri="{FF2B5EF4-FFF2-40B4-BE49-F238E27FC236}">
                <a16:creationId xmlns:a16="http://schemas.microsoft.com/office/drawing/2014/main" id="{C8384C1F-2FC6-4016-9ED2-3B76868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A81B25-BC9F-4834-8B39-CB552EE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功能展示二：长期记忆与家庭画像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8635E1-6005-4DBC-BEA4-4128238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658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长期画像区域会随着对话持久更新，系统能记住家庭成员的偏好、饮食限制和照护习惯。</a:t>
            </a:r>
          </a:p>
        </p:txBody>
      </p:sp>
      <p:sp>
        <p:nvSpPr>
          <p:cNvPr id="4" name="memory-chat">
            <a:extLst xmlns:a="http://schemas.openxmlformats.org/drawingml/2006/main">
              <a:ext uri="{FF2B5EF4-FFF2-40B4-BE49-F238E27FC236}">
                <a16:creationId xmlns:a16="http://schemas.microsoft.com/office/drawing/2014/main" id="{8998C2A8-0A6E-445E-80A9-1A410EF9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81915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4FD60-DAD6-468B-A44D-E1D096AF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对话触发记忆写入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61B2D-6C79-443D-8DEE-5F98E23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4630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7DD8D-0C33-4318-BD09-5806619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记住奶奶喜欢吃番茄炒蛋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4C2B3-23CA-4F78-89F5-78892CDE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3280"/>
            <a:ext cx="3771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C1B2-A30F-4AA5-BA94-F2CDEF8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已记住奶奶的饮食偏好：喜欢番茄炒蛋。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E72FD-FE7E-4970-BEE6-26340E9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193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AF31-A801-45DD-B8B3-6ED17EEA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338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中午吃什么好？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2283D-1332-4CD7-9C68-AE0B4EB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058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189A2-F47F-47A4-BCF6-C902826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3810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可以优先考虑番茄炒蛋，口味清淡，比较符合奶奶偏好。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857B1-E06A-46CA-9043-1847260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7830"/>
            <a:ext cx="7658100" cy="518160"/>
          </a:xfrm>
          <a:prstGeom xmlns:a="http://schemas.openxmlformats.org/drawingml/2006/main" prst="roundRect">
            <a:avLst>
              <a:gd name="adj" fmla="val 18382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7B589-4F12-4FBE-8C65-2E64F68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这类回答会读取长期画像，不只是依赖上一轮聊天上下文。</a:t>
            </a:r>
          </a:p>
        </p:txBody>
      </p:sp>
      <p:sp>
        <p:nvSpPr>
          <p:cNvPr id="16" name="profile-panel">
            <a:extLst xmlns:a="http://schemas.openxmlformats.org/drawingml/2006/main">
              <a:ext uri="{FF2B5EF4-FFF2-40B4-BE49-F238E27FC236}">
                <a16:creationId xmlns:a16="http://schemas.microsoft.com/office/drawing/2014/main" id="{52BD024F-A155-40E2-9501-2D01583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5960"/>
            <a:ext cx="81915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E6B21-C931-41A1-BAAF-3D384E4A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2476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🧠 长期家庭画像</a:t>
            </a:r>
          </a:p>
        </p:txBody>
      </p:sp>
      <p:sp>
        <p:nvSpPr>
          <p:cNvPr id="18" name="chip-SQLite 持久化">
            <a:extLst xmlns:a="http://schemas.openxmlformats.org/drawingml/2006/main">
              <a:ext uri="{FF2B5EF4-FFF2-40B4-BE49-F238E27FC236}">
                <a16:creationId xmlns:a16="http://schemas.microsoft.com/office/drawing/2014/main" id="{B49DFDEB-AB70-46BB-A093-030D68E8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319" y="2305050"/>
            <a:ext cx="1352931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37B5A-A7BC-4894-843B-B109B53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381250"/>
            <a:ext cx="100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SQLite 持久化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EC8BD-D723-42DB-AC4A-28E53CD8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A038"/>
                </a:solidFill>
              </a:defRPr>
            </a:pPr>
            <a:r>
              <a:t>奶奶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A2CD2-C46D-42C5-95A5-876060E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666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爱好：喜欢看电影；饮食：喜欢吃软一点的面条、喜欢吃香菜、喜欢吃番茄炒蛋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46899-3E6B-4E03-B51F-7F5A03B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100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爷爷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E1BE0-435F-4FCC-B566-79A78D5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性格：节俭；饮食：不吃辣、喜欢清淡；爱好：散步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B96E7-3C87-4873-AF2F-9619140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672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孩子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FB23B-1106-4065-8D58-2BE5797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爱好：喜欢画画、喜欢恐龙、喜欢奶龙玩具；饮食：喜欢吃番茄炒蛋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3DE01-32B6-4465-A2C8-E50B337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053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爸爸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A1614-A42F-4706-BF02-36609215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053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爱好：喜欢跑步；饮食：喜欢吃牛肉面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FDCDF-AE80-4AD1-950F-2A9F0D29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53025"/>
            <a:ext cx="765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E"/>
          </a:solidFill>
          <a:ln xmlns:a="http://schemas.openxmlformats.org/drawingml/2006/main" w="0">
            <a:solidFill>
              <a:srgbClr val="D8E3DE"/>
            </a:solidFill>
            <a:prstDash val="solid"/>
          </a:ln>
        </p:spPr>
      </p:sp>
      <p:sp>
        <p:nvSpPr>
          <p:cNvPr id="29" name="dag-s1">
            <a:extLst xmlns:a="http://schemas.openxmlformats.org/drawingml/2006/main">
              <a:ext uri="{FF2B5EF4-FFF2-40B4-BE49-F238E27FC236}">
                <a16:creationId xmlns:a16="http://schemas.microsoft.com/office/drawing/2014/main" id="{B1D5CCE1-3158-4304-BB17-50FC16A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70BD7-3819-418A-96E1-E5B1FCA3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s1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72877-3A6E-4D0B-9225-8EC6E424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profile.remember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C64E5-B383-4F7F-A5C7-0C54F8E7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抽取成员与偏好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F041E1-5F43-4D81-AC3E-A70DADA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674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4" name="dag-s2">
            <a:extLst xmlns:a="http://schemas.openxmlformats.org/drawingml/2006/main">
              <a:ext uri="{FF2B5EF4-FFF2-40B4-BE49-F238E27FC236}">
                <a16:creationId xmlns:a16="http://schemas.microsoft.com/office/drawing/2014/main" id="{264EAE43-75BD-44CB-8F78-50ED89D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177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1053E2-8375-4BAD-A047-43D4AF7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D0F6D-8DAE-4270-8F26-30F9B31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family_profiles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557E7-E869-42AF-BDA1-AF6A724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写入本地 SQLite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914C9-494B-4C73-ACBE-A76A6F98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58674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9" name="dag-s3">
            <a:extLst xmlns:a="http://schemas.openxmlformats.org/drawingml/2006/main">
              <a:ext uri="{FF2B5EF4-FFF2-40B4-BE49-F238E27FC236}">
                <a16:creationId xmlns:a16="http://schemas.microsoft.com/office/drawing/2014/main" id="{AFAAE30E-B4AF-4337-BB8C-DA01A2CC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203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A706F9-0D8A-41FE-8BA7-902D79F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s3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00E8B4-A904-4CA3-A5B0-E18411A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前端刷新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730EA6-09DB-4CD7-9557-A8B4255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画像面板实时更新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9DE0F8-CECC-4355-97C3-B77BDCE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B90165-CE9F-4099-B97F-CCBC37C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7407245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intent-plan-bg">
            <a:extLst xmlns:a="http://schemas.openxmlformats.org/drawingml/2006/main">
              <a:ext uri="{FF2B5EF4-FFF2-40B4-BE49-F238E27FC236}">
                <a16:creationId xmlns:a16="http://schemas.microsoft.com/office/drawing/2014/main" id="{DCFBB044-687B-424C-AF5F-84B03DD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9DB79C-171A-42CD-BBC0-8E03643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9105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功能展示三：意图识别与任务规划 DAG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82C8AA-B3D9-4B26-9BC4-4DC5CA4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990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每轮请求都会展示意图来源、置信度、槽位和规划步骤，能解释系统为什么调用这些工具。</a:t>
            </a:r>
          </a:p>
        </p:txBody>
      </p:sp>
      <p:sp>
        <p:nvSpPr>
          <p:cNvPr id="4" name="intent-panel">
            <a:extLst xmlns:a="http://schemas.openxmlformats.org/drawingml/2006/main">
              <a:ext uri="{FF2B5EF4-FFF2-40B4-BE49-F238E27FC236}">
                <a16:creationId xmlns:a16="http://schemas.microsoft.com/office/drawing/2014/main" id="{6904F971-B53F-45B7-8F83-6653B6F5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6040"/>
            <a:ext cx="8191500" cy="641223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F3C4-B58C-47CB-9582-D79F378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意图识别面板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993F-C997-4D35-AC69-FBAAF19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4710"/>
            <a:ext cx="7658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4C3EE-DF06-4D52-84AD-E7CDB98F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7E6AB-AA8D-4A76-950B-9CC1309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示例值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32239-621C-49E2-9C65-BC0DC0C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8B57-D39A-40ED-8ECC-7EBD3D5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用户输入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AAFBE-B97A-4B4D-99CF-896AE9E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爷爷房间视频有点卡，帮我看看。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39332-C118-444B-82DF-950A53C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866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E5D89-B740-465B-A3B4-52AD9EE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186D7-F848-46C4-9F3E-5E7C1C48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network_qos / network_diagnosis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CDB52-EE7D-435D-8E42-0171B49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492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A0C8E-C154-4EF4-8D0A-F9638C5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37832-7572-4F10-98C4-E6B069B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规则命中；或本地 Qwen 补识别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A72EC-7FCE-429B-BB60-1632E61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118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FE527-3EE3-46E1-9BCB-DF25CF7F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F0790-45CA-4B70-94EC-7173EC5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0.90 - 0.96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DFCC9-3088-45C1-9BE1-511F907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744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63470-A676-41CE-881B-E7C46DB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槽位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C4563-9241-4B8E-B7C5-1700080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2865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{ room: 老人房, member: 爷爷 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FCF0F-6E3E-4E36-8681-1F51C48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43700"/>
            <a:ext cx="7658100" cy="204597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7E177-F1C7-4A10-A48F-BB8D9663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961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678D5"/>
                </a:solidFill>
              </a:defRPr>
            </a:pPr>
            <a:r>
              <a:t>本地模型参与点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68768-24A1-4C25-BD09-BA1D1559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7343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当规则没有稳定命中时，本地 Qwen 输出结构化 JSON 意图；只要识别到可执行家庭任务，后续仍进入 Planner 和工具链。</a:t>
            </a:r>
          </a:p>
        </p:txBody>
      </p:sp>
      <p:sp>
        <p:nvSpPr>
          <p:cNvPr id="27" name="dag-panel">
            <a:extLst xmlns:a="http://schemas.openxmlformats.org/drawingml/2006/main">
              <a:ext uri="{FF2B5EF4-FFF2-40B4-BE49-F238E27FC236}">
                <a16:creationId xmlns:a16="http://schemas.microsoft.com/office/drawing/2014/main" id="{67A4E8A4-8172-4246-82E2-0292719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6040"/>
            <a:ext cx="8191500" cy="641223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DFF8B-AEE9-417D-AD25-6E87F195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384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任务规划 (DAG)</a:t>
            </a:r>
          </a:p>
        </p:txBody>
      </p:sp>
      <p:sp>
        <p:nvSpPr>
          <p:cNvPr id="29" name="dag-s1">
            <a:extLst xmlns:a="http://schemas.openxmlformats.org/drawingml/2006/main">
              <a:ext uri="{FF2B5EF4-FFF2-40B4-BE49-F238E27FC236}">
                <a16:creationId xmlns:a16="http://schemas.microsoft.com/office/drawing/2014/main" id="{4D403222-FE84-41F5-BC6B-76E14AD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1947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4440F-91DF-44E4-A9EE-D7E97E4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s1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0B465-F0CA-4611-88E2-4D633A4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home_profile.query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502D5-9C9F-4C8A-AF09-D079177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624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读取老人房与成员上下文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B9E1B-51D3-45FB-A550-1ED9D80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94335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4" name="dag-s2">
            <a:extLst xmlns:a="http://schemas.openxmlformats.org/drawingml/2006/main">
              <a:ext uri="{FF2B5EF4-FFF2-40B4-BE49-F238E27FC236}">
                <a16:creationId xmlns:a16="http://schemas.microsoft.com/office/drawing/2014/main" id="{FBF6E62F-ACE7-4E2E-B31D-F1B81B2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1140" y="341947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357F8-A6DF-4464-9BC7-697ED01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7147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s2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9BE3C-9972-47AE-A054-C7C43D2E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0005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network.diagnose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0129F-86F3-4D38-B8AC-71C283F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3624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读取 Mesh、RSSI、带宽占用</a:t>
            </a:r>
          </a:p>
        </p:txBody>
      </p:sp>
      <p:sp>
        <p:nvSpPr>
          <p:cNvPr id="38" name="dag-s3">
            <a:extLst xmlns:a="http://schemas.openxmlformats.org/drawingml/2006/main">
              <a:ext uri="{FF2B5EF4-FFF2-40B4-BE49-F238E27FC236}">
                <a16:creationId xmlns:a16="http://schemas.microsoft.com/office/drawing/2014/main" id="{721EA075-9A93-4657-B416-7FA4DF3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3872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96D569-963C-48AE-8210-5FEA9C98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42E6E-8F7A-4B2D-9789-C3E3848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1975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network.apply_qos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7A41B-01E7-4486-AC3C-9B6943D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817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为老人房视频开启优先级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36389-1C8C-441A-B981-FE8832E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5626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43" name="dag-s4">
            <a:extLst xmlns:a="http://schemas.openxmlformats.org/drawingml/2006/main">
              <a:ext uri="{FF2B5EF4-FFF2-40B4-BE49-F238E27FC236}">
                <a16:creationId xmlns:a16="http://schemas.microsoft.com/office/drawing/2014/main" id="{D982819C-7673-4B14-A286-B5FED66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1140" y="503872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354E5-E2EE-4134-A6A0-9516A62C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340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s4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BD9850-FA49-4103-8AF0-38818A7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61975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reply.build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FA90FB-FDC7-41D7-9E81-0FF2434A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9817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汇总工具结果生成回复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35E613-DEBB-471E-8EFB-7E31A052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52260"/>
            <a:ext cx="7658100" cy="2137410"/>
          </a:xfrm>
          <a:prstGeom xmlns:a="http://schemas.openxmlformats.org/drawingml/2006/main" prst="roundRect">
            <a:avLst>
              <a:gd name="adj" fmla="val 5348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49E6F-E0E0-4A5E-BC8C-739E8D9E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9532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A038"/>
                </a:solidFill>
              </a:defRPr>
            </a:pPr>
            <a:r>
              <a:t>为什么要展示 DAG</a:t>
            </a:r>
          </a:p>
        </p:txBody>
      </p:sp>
      <p:sp>
        <p:nvSpPr>
          <p:cNvPr id="49" name="dot">
            <a:extLst xmlns:a="http://schemas.openxmlformats.org/drawingml/2006/main">
              <a:ext uri="{FF2B5EF4-FFF2-40B4-BE49-F238E27FC236}">
                <a16:creationId xmlns:a16="http://schemas.microsoft.com/office/drawing/2014/main" id="{4C2DD435-926A-4E5A-A831-BC386F4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9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EA6D18-BDEC-4510-8086-2512137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3914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证明系统不是直接吐固定话术，而是先拆任务再执行。</a:t>
            </a:r>
          </a:p>
        </p:txBody>
      </p:sp>
      <p:sp>
        <p:nvSpPr>
          <p:cNvPr id="51" name="dot">
            <a:extLst xmlns:a="http://schemas.openxmlformats.org/drawingml/2006/main">
              <a:ext uri="{FF2B5EF4-FFF2-40B4-BE49-F238E27FC236}">
                <a16:creationId xmlns:a16="http://schemas.microsoft.com/office/drawing/2014/main" id="{5B7D94CE-E229-434E-8EFB-F0481D0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79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05165A-6307-4CC8-A1ED-9C131B5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9145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敏感动作和依赖关系能在计划层被拦截和确认。</a:t>
            </a:r>
          </a:p>
        </p:txBody>
      </p:sp>
      <p:sp>
        <p:nvSpPr>
          <p:cNvPr id="53" name="dot">
            <a:extLst xmlns:a="http://schemas.openxmlformats.org/drawingml/2006/main">
              <a:ext uri="{FF2B5EF4-FFF2-40B4-BE49-F238E27FC236}">
                <a16:creationId xmlns:a16="http://schemas.microsoft.com/office/drawing/2014/main" id="{274493F7-2B19-4A40-BD3F-4A8FAE2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19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B23BC2-EFFD-42FA-8D72-590ABCA9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81915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每个步骤都能追到对应工具、入参、依赖和耗时。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DE98DB-4084-423A-B783-A741F25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D7C3D6-2418-48FF-BDB3-C9FA13E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1523907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tools-state-bg">
            <a:extLst xmlns:a="http://schemas.openxmlformats.org/drawingml/2006/main">
              <a:ext uri="{FF2B5EF4-FFF2-40B4-BE49-F238E27FC236}">
                <a16:creationId xmlns:a16="http://schemas.microsoft.com/office/drawing/2014/main" id="{F8749F77-17EF-499C-861E-02B4D36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4E66EF-2A3C-4563-9E16-5821CC5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120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功能展示四：工具日志、设备状态与传感器面板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88CA40-7730-454C-AB15-AB64167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89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右侧面板把执行结果展开为可检查的日志和状态表，展示系统已经接入本地模拟设备与传感器状态。</a:t>
            </a:r>
          </a:p>
        </p:txBody>
      </p:sp>
      <p:sp>
        <p:nvSpPr>
          <p:cNvPr id="4" name="tool-log-panel">
            <a:extLst xmlns:a="http://schemas.openxmlformats.org/drawingml/2006/main">
              <a:ext uri="{FF2B5EF4-FFF2-40B4-BE49-F238E27FC236}">
                <a16:creationId xmlns:a16="http://schemas.microsoft.com/office/drawing/2014/main" id="{2A4627DF-8847-4B25-B372-0071D89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86106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E3E9-6C13-4A6B-B433-447FAE1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807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🔧 工具调用日志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C4AC7-F349-4933-A685-6089C72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5580"/>
            <a:ext cx="80772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4AA50-6F5D-4B78-9D29-7E0C8E9B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2E724-7C48-4239-8D79-60F58D1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3845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3FFCB-90FF-4C4C-A660-0EA74DD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D1C1A-6119-434F-BA6A-D1EF9AFB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耗时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5B6AE-B2C6-4162-A4AC-5262698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422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3F171-80CF-4D19-B5AB-2B36549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1B8C-9222-4764-94A8-E8526C2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home_profile.query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3174-3ACF-4F31-85DF-658110B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读取爷爷与老人房画像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B7798-7C74-4733-B831-5240DEF0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2AB49-4962-4FFD-B5A2-634B922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143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E23E5-624E-4B6A-BE54-81D4E5A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98516-1F3B-49C6-9130-2A49F5E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243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sensor.query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2FC27-C12E-4768-865E-CC4A58A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老人房温度 17.5℃，湿度 60%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ABC3E-1646-445E-AD0C-27F5905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F7283-FD03-4AEF-A2CD-901C1EA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864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6BB19-CF6D-4AFF-94CA-B068A97F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A83F2-E40C-4E70-ACAE-7A429A0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device.query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AB260-006D-4E01-83AA-46295F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老人房灯、空调已读取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EA183-8FD6-4E0C-ADB6-011A903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69A8E-A135-4E9F-BEED-0DD78C71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47388-A8A6-4D77-8FAA-EA698D6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C13A8-FEE2-4978-B1D1-9CBD49C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network.apply_qos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11135-5E48-41A8-986B-DE9A01A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已开启老人房视频优先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BFAAB-7727-4F4B-A85E-53A332F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4 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1F029-9637-4813-8902-2E70A0F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3060"/>
            <a:ext cx="8077200" cy="3356610"/>
          </a:xfrm>
          <a:prstGeom xmlns:a="http://schemas.openxmlformats.org/drawingml/2006/main" prst="roundRect">
            <a:avLst>
              <a:gd name="adj" fmla="val 3405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4D60BF-8292-49E6-B63D-DD41584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818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F86"/>
                </a:solidFill>
              </a:defRPr>
            </a:pPr>
            <a:r>
              <a:t>性能指标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3BD64-1710-4FBF-AB29-8FF3EA5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00900"/>
            <a:ext cx="765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总耗时、模型耗时、工具耗时和是否命中缓存会在底部同步更新。</a:t>
            </a:r>
          </a:p>
        </p:txBody>
      </p:sp>
      <p:sp>
        <p:nvSpPr>
          <p:cNvPr id="34" name="device-panel">
            <a:extLst xmlns:a="http://schemas.openxmlformats.org/drawingml/2006/main">
              <a:ext uri="{FF2B5EF4-FFF2-40B4-BE49-F238E27FC236}">
                <a16:creationId xmlns:a16="http://schemas.microsoft.com/office/drawing/2014/main" id="{9100ADF2-0E85-484F-9595-B35F3D9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5960"/>
            <a:ext cx="7810500" cy="3430905"/>
          </a:xfrm>
          <a:prstGeom xmlns:a="http://schemas.openxmlformats.org/drawingml/2006/main" prst="roundRect">
            <a:avLst>
              <a:gd name="adj" fmla="val 27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14A546-BBCE-4CE6-A7C0-D9D78DC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90750"/>
            <a:ext cx="7277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A038"/>
                </a:solidFill>
              </a:defRPr>
            </a:pPr>
            <a:r>
              <a:t>💡 设备状态面板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5B6F0F-F84D-4AEC-912D-08E3708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93670"/>
            <a:ext cx="7277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3F3AF-94DF-412D-8DEC-88B00D1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03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房间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2E666-451D-48A5-ADBD-A22BDB6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003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设备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449C33-B78E-4CE4-9B4D-BB6A9FE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8003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56FD29-0C55-4636-A74C-9679FFB9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8003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详情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221783-AE77-44DE-9D84-F0575B4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2326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B1A749-425B-4ADC-9CBF-42D225D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A4501E-337B-4069-99D9-766778A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BFE260-2212-4423-A18F-FCAB473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147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0F7762-76DA-4492-B88B-FE4160F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31470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亮度 60%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86A00-4721-44D0-8C22-8CFDA9F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4142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7A2EFB-05F5-4056-B47D-8AA3756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主卧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D25502-3450-43BC-B538-73DD73B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290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主卧空调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60250-4549-40E8-8F22-B5512FE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829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BD6F7-C7AB-4679-A6A7-6D9B028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8290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26℃，睡眠模式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F2E078-C5CD-4BF0-8E49-7DF4435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5958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D19BF-8B9D-4700-9CFC-2952839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624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5144F9-552F-4BE1-B0CB-EAF63F58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3624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老人房空调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1BF10-BC29-465F-8541-D503705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3624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B25B7C-5EB3-4754-B992-2018798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3624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24℃，舒适模式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6BC032-5EE7-44AC-83F6-22372BE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7774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013FAA-4246-4ADF-B3EE-CD73EF6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76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玄关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305E77-D44C-482C-A5C7-BC507F33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8768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门锁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C3DF79-DE26-4C7E-9CE9-E329F02E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8768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锁定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52ED16-9CC8-4546-8835-B518845C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87680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敏感动作需确认</a:t>
            </a:r>
          </a:p>
        </p:txBody>
      </p:sp>
      <p:sp>
        <p:nvSpPr>
          <p:cNvPr id="61" name="sensor-panel">
            <a:extLst xmlns:a="http://schemas.openxmlformats.org/drawingml/2006/main">
              <a:ext uri="{FF2B5EF4-FFF2-40B4-BE49-F238E27FC236}">
                <a16:creationId xmlns:a16="http://schemas.microsoft.com/office/drawing/2014/main" id="{30233183-16BD-42C2-A5E3-08DF0D3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7365"/>
            <a:ext cx="7810500" cy="3430905"/>
          </a:xfrm>
          <a:prstGeom xmlns:a="http://schemas.openxmlformats.org/drawingml/2006/main" prst="roundRect">
            <a:avLst>
              <a:gd name="adj" fmla="val 27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66E5D6-0276-4A44-8C5B-EAA4E352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810250"/>
            <a:ext cx="7277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678D5"/>
                </a:solidFill>
              </a:defRPr>
            </a:pPr>
            <a:r>
              <a:t>🌡 传感器面板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FC6481-B3BF-4C96-9B0C-AAFD52E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315075"/>
            <a:ext cx="7277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3C6F04-6959-4CC0-8810-FAA8B101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房间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362FFE-D708-48A2-8AB4-EC776A8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温度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77491D-BB48-4359-956D-5EA9865C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湿度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A5A2BC-499E-4E7D-953B-123434AF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419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活动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DC4280-DF43-4989-A1AB-2EE86F0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64198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噪声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FE7D5A-9CD3-4814-BB94-A906F2F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4466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1F8A30-880D-4BEB-9BA3-BDFBCEC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34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78E7B2-9CEF-48F5-9FD1-837570D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9342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17.5℃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6AF95B-5751-4549-8CFB-37943DE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9342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60%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70D02B-13CA-4206-A4BE-DA3B4C9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9342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130 分钟无人活动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16B8DA-455E-4CF0-AA26-F048371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69342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B6AC19-FA3B-4262-87AC-29ECA5F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6282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C9414D-73EF-40BE-8211-5B7E27F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4676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儿童房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FFD996-A2ED-4A72-BE3B-F86653B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676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24.0℃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6F900B-D56E-490B-BBFF-08FC520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4676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52%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45BA60-45BA-4AA7-8342-1A64A73F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4676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学习中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E4F2ED-AE89-47E4-B939-EE871C8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74676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中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389984-3FCB-4AC7-B20D-778152C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8098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2EC92F-6507-4101-B890-94E4956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9819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76D48D-5D73-4686-A513-4C87EDC8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9819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25.0℃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FC1FBB-9A16-4C44-9B6B-4ADBED3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9819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55%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AD787D-9D03-4590-83EB-E8827666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9819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有人活动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23FFC9-7C11-409D-9D72-540DD58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79819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中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CBB1EFF-5CED-4C12-86D1-6780292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04F990-5060-4289-9BD8-F173B99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0997042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interface-bg">
            <a:extLst xmlns:a="http://schemas.openxmlformats.org/drawingml/2006/main">
              <a:ext uri="{FF2B5EF4-FFF2-40B4-BE49-F238E27FC236}">
                <a16:creationId xmlns:a16="http://schemas.microsoft.com/office/drawing/2014/main" id="{51A91945-B2D9-4861-B734-AC013BF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DD645-E286-445D-968D-BE24798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610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接口契约：一个 run 入口承载完整智能体闭环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F05016-CEBC-412B-B5F6-223B349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0077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接口文档围绕比赛规定的 main.run 设计，命令行、Web Demo、测试脚本都复用同一个入口。</a:t>
            </a:r>
          </a:p>
        </p:txBody>
      </p:sp>
      <p:sp>
        <p:nvSpPr>
          <p:cNvPr id="4" name="run-input">
            <a:extLst xmlns:a="http://schemas.openxmlformats.org/drawingml/2006/main">
              <a:ext uri="{FF2B5EF4-FFF2-40B4-BE49-F238E27FC236}">
                <a16:creationId xmlns:a16="http://schemas.microsoft.com/office/drawing/2014/main" id="{D592D8DC-7D45-4C9B-931A-65E6EA1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3190"/>
            <a:ext cx="7448550" cy="6297930"/>
          </a:xfrm>
          <a:prstGeom xmlns:a="http://schemas.openxmlformats.org/drawingml/2006/main" prst="roundRect">
            <a:avLst>
              <a:gd name="adj" fmla="val 15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821F9-D3FD-44A0-8FBC-A7697D9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691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00283-9DCF-436D-8031-F1191D7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69151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user_input: 自然语言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state: 会话与家庭状态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config: 模型、确认、安全、调试配置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E98D4-B2D0-4915-8F41-3E743ECA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647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run()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21C1F-036F-467B-90F4-6605CFD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9" name="run-output">
            <a:extLst xmlns:a="http://schemas.openxmlformats.org/drawingml/2006/main">
              <a:ext uri="{FF2B5EF4-FFF2-40B4-BE49-F238E27FC236}">
                <a16:creationId xmlns:a16="http://schemas.microsoft.com/office/drawing/2014/main" id="{203C08E8-6335-418A-8934-A599281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3190"/>
            <a:ext cx="7448550" cy="6297930"/>
          </a:xfrm>
          <a:prstGeom xmlns:a="http://schemas.openxmlformats.org/drawingml/2006/main" prst="roundRect">
            <a:avLst>
              <a:gd name="adj" fmla="val 15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2AB8A-9C65-4A58-AD6D-7F9B340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95600"/>
            <a:ext cx="691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92E3B-F2FF-40F9-A4D3-1C0FF93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099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reply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51F3-CDCC-47A3-94D0-86E95B3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4099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面向用户的自然语言回复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B9233-6B46-49BB-A86B-8B579AB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100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0E6CF-0EBA-4BB3-BCBD-318C4C7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100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意图、置信度、槽位、来源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6AAC-C731-4277-A58D-9C88B8E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0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A038"/>
                </a:solidFill>
              </a:defRPr>
            </a:pPr>
            <a: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2476B-7DB9-4F54-961B-EE250A87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2100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DAG 任务步骤和依赖关系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E14AD-26C6-418E-BC56-27A11E6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10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7A56F"/>
                </a:solidFill>
              </a:defRPr>
            </a:pPr>
            <a:r>
              <a:t>tool_results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75774-7DC1-4BDF-920C-AE17429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6101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结构化工具调用结果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9507-A558-4FF6-9478-02D0B07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10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7C846-30C4-4997-8FEE-162555F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0101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更新后的会话与家庭状态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52E2B-2CDA-4BC9-B277-080A992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391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6D5B"/>
                </a:solidFill>
              </a:defRPr>
            </a:pPr>
            <a:r>
              <a:t>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EE18A-A20C-4CF6-876B-A38F5D8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3911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总耗时、模型耗时、工具耗时、内存估计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6ACE1-C00D-4896-9BBB-A6704C0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791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8E271-5D32-4AAE-B508-DC72FAEC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7912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敏感动作确认状态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C2DB9-2CE7-4947-945C-7DDF90D6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508DC-03C7-4382-9D5A-C0674B1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16824549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ject-framework-bg">
            <a:extLst xmlns:a="http://schemas.openxmlformats.org/drawingml/2006/main">
              <a:ext uri="{FF2B5EF4-FFF2-40B4-BE49-F238E27FC236}">
                <a16:creationId xmlns:a16="http://schemas.microsoft.com/office/drawing/2014/main" id="{62E819FA-5DD1-4C6A-98DE-1B39D75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pic>
        <p:nvPicPr>
          <p:cNvPr id="2" name="project-framework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55ebd0bb476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20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gent-bg">
            <a:extLst xmlns:a="http://schemas.openxmlformats.org/drawingml/2006/main">
              <a:ext uri="{FF2B5EF4-FFF2-40B4-BE49-F238E27FC236}">
                <a16:creationId xmlns:a16="http://schemas.microsoft.com/office/drawing/2014/main" id="{C9C04A4A-073A-4C23-9355-50699CD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18FDA-297D-409A-B977-E968E45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66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核心方案一：混合意图路由与本地模型补识别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B1CC92-4A99-445A-97B6-62F9FBC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11601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系统采用规则优先的低延迟路径；规则未命中时由本地 Qwen 识别意图，识别结果仍进入规划和工具执行。</a:t>
            </a:r>
          </a:p>
        </p:txBody>
      </p:sp>
      <p:sp>
        <p:nvSpPr>
          <p:cNvPr id="4" name="step-mark-规则">
            <a:extLst xmlns:a="http://schemas.openxmlformats.org/drawingml/2006/main">
              <a:ext uri="{FF2B5EF4-FFF2-40B4-BE49-F238E27FC236}">
                <a16:creationId xmlns:a16="http://schemas.microsoft.com/office/drawing/2014/main" id="{6C5C5A9D-B8AF-4D00-8B08-09BD770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0CC46-392F-496F-9BCF-45FC3DFD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B1465-5DBC-42DB-BA5E-C99DDEF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高频家庭任务低延迟命中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15FC-D5ED-4B03-AD7A-6AE98AC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8" name="step-mark-Qwen">
            <a:extLst xmlns:a="http://schemas.openxmlformats.org/drawingml/2006/main">
              <a:ext uri="{FF2B5EF4-FFF2-40B4-BE49-F238E27FC236}">
                <a16:creationId xmlns:a16="http://schemas.microsoft.com/office/drawing/2014/main" id="{FA6FB57E-797F-40FE-AE78-B7C53E7C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083E6-9BE8-4032-9787-926F248E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053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Qwen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E649-1E86-46FB-89E1-53F8182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292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规则未命中时补识别意图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69EBE-449D-4CF9-9792-4F29429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2" name="step-mark-Planner">
            <a:extLst xmlns:a="http://schemas.openxmlformats.org/drawingml/2006/main">
              <a:ext uri="{FF2B5EF4-FFF2-40B4-BE49-F238E27FC236}">
                <a16:creationId xmlns:a16="http://schemas.microsoft.com/office/drawing/2014/main" id="{3E8EE916-D98B-4501-929E-9A82FF9E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0F7C3-DE9D-4D3A-A413-D90A8C0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E17D8-6869-4A38-B1BA-E07FD0C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意图转可执行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114DF-B147-41A1-884A-B3B4389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6" name="step-mark-Tools">
            <a:extLst xmlns:a="http://schemas.openxmlformats.org/drawingml/2006/main">
              <a:ext uri="{FF2B5EF4-FFF2-40B4-BE49-F238E27FC236}">
                <a16:creationId xmlns:a16="http://schemas.microsoft.com/office/drawing/2014/main" id="{BE83474C-7F7C-488F-B712-9491F1D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FD4B0-8434-45AD-80E4-A847EA9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76750"/>
            <a:ext cx="457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70390-D3DA-4550-8CC3-27F916C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4825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sensor / device / network 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2447E-A451-4785-AA54-1D5DD3C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20" name="step-mark-回复">
            <a:extLst xmlns:a="http://schemas.openxmlformats.org/drawingml/2006/main">
              <a:ext uri="{FF2B5EF4-FFF2-40B4-BE49-F238E27FC236}">
                <a16:creationId xmlns:a16="http://schemas.microsoft.com/office/drawing/2014/main" id="{18AA6669-2058-4006-B3F9-4AD52E05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E6A36-AF34-44C9-82B3-8CD85ED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4705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6D5B"/>
                </a:solidFill>
              </a:defRPr>
            </a:pPr>
            <a:r>
              <a:t>回复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3FA71-EBB7-4158-8531-D48CCF1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由工具结果汇总生成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ED319-10DD-4275-AC4C-99C2496E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99580"/>
            <a:ext cx="16802100" cy="1112520"/>
          </a:xfrm>
          <a:prstGeom xmlns:a="http://schemas.openxmlformats.org/drawingml/2006/main" prst="roundRect">
            <a:avLst>
              <a:gd name="adj" fmla="val 10274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9B746-D89D-4780-893E-EDE73E9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0"/>
            <a:ext cx="16154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D"/>
                </a:solidFill>
              </a:defRPr>
            </a:pPr>
            <a:r>
              <a:t>实现路径：LocalRouter → TaskPlanner → PlanExecutor → ToolRegistry → Pipeline._reply。回复依据 tool_results 汇总生成；没有可执行工具或可信知识命中时，才进入本地模型生成式兜底。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1B824-7E97-4E7D-B1D0-3C40B05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CBB47-705B-45B7-A1CA-F5DC6C0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8598623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ols-bg">
            <a:extLst xmlns:a="http://schemas.openxmlformats.org/drawingml/2006/main">
              <a:ext uri="{FF2B5EF4-FFF2-40B4-BE49-F238E27FC236}">
                <a16:creationId xmlns:a16="http://schemas.microsoft.com/office/drawing/2014/main" id="{AB7B3542-22C8-4603-8F60-B6AF8DF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7A70E4-39CF-49F8-9DA3-DF64A15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9067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核心方案二：工具注册表与白名单执行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4BE1E5-1C53-4A76-ABB3-97D4BF9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4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设备、网络、提醒、知识和安全能力统一注册为工具函数，规划器只能调用明确声明的本地工具。</a:t>
            </a:r>
          </a:p>
        </p:txBody>
      </p:sp>
      <p:sp>
        <p:nvSpPr>
          <p:cNvPr id="4" name="tool-device">
            <a:extLst xmlns:a="http://schemas.openxmlformats.org/drawingml/2006/main">
              <a:ext uri="{FF2B5EF4-FFF2-40B4-BE49-F238E27FC236}">
                <a16:creationId xmlns:a16="http://schemas.microsoft.com/office/drawing/2014/main" id="{0A6C3480-151D-4A2C-BB7D-A117659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F2300-C488-40D4-AC02-05FF95E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8F86"/>
                </a:solidFill>
              </a:defRPr>
            </a:pPr>
            <a:r>
              <a:t>设备与场景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B20B9-8AFB-4596-B45E-B79C6926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device.control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scene.apply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device.query</a:t>
            </a:r>
          </a:p>
        </p:txBody>
      </p:sp>
      <p:sp>
        <p:nvSpPr>
          <p:cNvPr id="7" name="tool-network">
            <a:extLst xmlns:a="http://schemas.openxmlformats.org/drawingml/2006/main">
              <a:ext uri="{FF2B5EF4-FFF2-40B4-BE49-F238E27FC236}">
                <a16:creationId xmlns:a16="http://schemas.microsoft.com/office/drawing/2014/main" id="{9EACF9F1-83FC-4135-84F3-AB7D93B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C4C9-A6C4-420D-A1CB-6019C02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678D5"/>
                </a:solidFill>
              </a:defRPr>
            </a:pPr>
            <a:r>
              <a:t>网络诊断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434C-9C81-4637-9502-93F685B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network.diagnose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network.apply_qos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Mesh / RSSI / 带宽占用</a:t>
            </a:r>
          </a:p>
        </p:txBody>
      </p:sp>
      <p:sp>
        <p:nvSpPr>
          <p:cNvPr id="10" name="tool-reminder">
            <a:extLst xmlns:a="http://schemas.openxmlformats.org/drawingml/2006/main">
              <a:ext uri="{FF2B5EF4-FFF2-40B4-BE49-F238E27FC236}">
                <a16:creationId xmlns:a16="http://schemas.microsoft.com/office/drawing/2014/main" id="{53E242A4-B8B8-4AA0-90DA-1DF24F75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32243-207A-4306-8469-EAE2D803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A038"/>
                </a:solidFill>
              </a:defRPr>
            </a:pPr>
            <a:r>
              <a:t>提醒管理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FD9B-D3CD-4051-97A3-DAB5690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reminder.create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reminder.query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reminder.complete / cancel</a:t>
            </a:r>
          </a:p>
        </p:txBody>
      </p:sp>
      <p:sp>
        <p:nvSpPr>
          <p:cNvPr id="13" name="tool-profile">
            <a:extLst xmlns:a="http://schemas.openxmlformats.org/drawingml/2006/main">
              <a:ext uri="{FF2B5EF4-FFF2-40B4-BE49-F238E27FC236}">
                <a16:creationId xmlns:a16="http://schemas.microsoft.com/office/drawing/2014/main" id="{1AEC6B58-75F3-4E88-B264-B200AF0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FC2A8-237E-4E31-B9FA-7C43343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A56F"/>
                </a:solidFill>
              </a:defRPr>
            </a:pPr>
            <a:r>
              <a:t>家庭画像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76257-003A-4E52-B0EB-625A99B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home_profile.query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profile.remember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profile.query</a:t>
            </a:r>
          </a:p>
        </p:txBody>
      </p:sp>
      <p:sp>
        <p:nvSpPr>
          <p:cNvPr id="16" name="tool-knowledge">
            <a:extLst xmlns:a="http://schemas.openxmlformats.org/drawingml/2006/main">
              <a:ext uri="{FF2B5EF4-FFF2-40B4-BE49-F238E27FC236}">
                <a16:creationId xmlns:a16="http://schemas.microsoft.com/office/drawing/2014/main" id="{5BA8D5C1-9335-487D-90B3-C5FD170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762F0-CBF0-47BC-90DC-6EFA01E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A6CE0"/>
                </a:solidFill>
              </a:defRPr>
            </a:pPr>
            <a:r>
              <a:t>知识检索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9169B-68A6-4585-84F1-814903C3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knowledge.search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SQLite 本地知识库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无命中不编造</a:t>
            </a:r>
          </a:p>
        </p:txBody>
      </p:sp>
      <p:sp>
        <p:nvSpPr>
          <p:cNvPr id="19" name="tool-safety">
            <a:extLst xmlns:a="http://schemas.openxmlformats.org/drawingml/2006/main">
              <a:ext uri="{FF2B5EF4-FFF2-40B4-BE49-F238E27FC236}">
                <a16:creationId xmlns:a16="http://schemas.microsoft.com/office/drawing/2014/main" id="{92C364ED-35B6-4F52-A146-D027D64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79C89-0ED5-4090-8736-2ED6B2C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6D5B"/>
                </a:solidFill>
              </a:defRPr>
            </a:pPr>
            <a:r>
              <a:t>安全确认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B2D8A-58D5-4D3F-9343-5C2EEF1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safety.check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门锁/摄像头/告警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pending_confirmations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AB3AB-0115-4017-ACF1-A6BCAFB8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7D8DB-3F4E-4301-A8A8-CBCC81F5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2488055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mory-bg">
            <a:extLst xmlns:a="http://schemas.openxmlformats.org/drawingml/2006/main">
              <a:ext uri="{FF2B5EF4-FFF2-40B4-BE49-F238E27FC236}">
                <a16:creationId xmlns:a16="http://schemas.microsoft.com/office/drawing/2014/main" id="{66A26B1C-9822-4F9B-B305-2DC6B05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1655C-04C3-4478-85FF-02E73C5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9067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核心方案三：状态记忆与本地知识约束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BA7C6B-391F-4295-AC33-BD91FFEB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114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短期状态负责多轮承接，长期画像负责家庭成员偏好，本地知识库负责可追溯的家庭规则和解释来源。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B9216-1EE7-4FEE-9783-8C72113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E8F86"/>
                </a:solidFill>
              </a:defRPr>
            </a:pPr>
            <a:r>
              <a:t>短期状态</a:t>
            </a:r>
          </a:p>
        </p:txBody>
      </p:sp>
      <p:sp>
        <p:nvSpPr>
          <p:cNvPr id="5" name="dot">
            <a:extLst xmlns:a="http://schemas.openxmlformats.org/drawingml/2006/main">
              <a:ext uri="{FF2B5EF4-FFF2-40B4-BE49-F238E27FC236}">
                <a16:creationId xmlns:a16="http://schemas.microsoft.com/office/drawing/2014/main" id="{F856C765-6643-4E78-857E-A43B122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65986-D77E-47AF-B1BC-2C2C9FAA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保存最近对话、上一轮意图、房间、成员、待确认动作。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C70DC054-1ACD-4498-97D0-112E76D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906B-B45A-41E8-840B-CCC3543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支持“先保证爷爷那边”这类多轮上下文。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6CBB683F-1162-47DD-A7F0-2C3C739A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21016-9312-471E-9D9E-BA1AF6F8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LLM 兜底回答会读取最近历史，避免答非所问。</a:t>
            </a:r>
          </a:p>
        </p:txBody>
      </p:sp>
      <p:sp>
        <p:nvSpPr>
          <p:cNvPr id="11" name="memory-example">
            <a:extLst xmlns:a="http://schemas.openxmlformats.org/drawingml/2006/main">
              <a:ext uri="{FF2B5EF4-FFF2-40B4-BE49-F238E27FC236}">
                <a16:creationId xmlns:a16="http://schemas.microsoft.com/office/drawing/2014/main" id="{E480A7DF-C8C8-407A-99FD-6C25DBF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61210"/>
            <a:ext cx="8124825" cy="6861810"/>
          </a:xfrm>
          <a:prstGeom xmlns:a="http://schemas.openxmlformats.org/drawingml/2006/main" prst="roundRect">
            <a:avLst>
              <a:gd name="adj" fmla="val 1388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C54E4-E1EB-48B0-9A44-31E0A43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33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8A038"/>
                </a:solidFill>
              </a:defRPr>
            </a:pPr>
            <a:r>
              <a:t>长期画像示例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5E06D-8171-45D2-B5B5-6311EAC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76009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爷爷｜性格：节俭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饮食：不吃辣，喜欢清淡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爱好：散步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奶奶｜爱好：看电影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饮食：喜欢番茄炒蛋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073A-CE03-455D-8BC2-E2C8689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199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A86"/>
                </a:solidFill>
              </a:defRPr>
            </a:pPr>
            <a:r>
              <a:t>实现：SQLite family_profiles 表，本地持久化，前端画像区域自动刷新。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E8B6E-5688-48D1-B38B-CB86BCB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5BE43-3388-449F-984E-FBD859D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1609484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ust-bg">
            <a:extLst xmlns:a="http://schemas.openxmlformats.org/drawingml/2006/main">
              <a:ext uri="{FF2B5EF4-FFF2-40B4-BE49-F238E27FC236}">
                <a16:creationId xmlns:a16="http://schemas.microsoft.com/office/drawing/2014/main" id="{5BF85F55-0F38-4D15-B392-6D6AB60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0004C-BE7B-4B5C-811D-69AFEBC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1734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端侧可信：隐私、安全、成本和可解释性一起成立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46BCCA-35FE-42F0-A237-8BA3864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114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系统以本地模型、本地数据库和本地工具执行为基础，在低资源环境中完成可追踪的家庭智能体流程。</a:t>
            </a:r>
          </a:p>
        </p:txBody>
      </p:sp>
      <p:sp>
        <p:nvSpPr>
          <p:cNvPr id="4" name="dot">
            <a:extLst xmlns:a="http://schemas.openxmlformats.org/drawingml/2006/main">
              <a:ext uri="{FF2B5EF4-FFF2-40B4-BE49-F238E27FC236}">
                <a16:creationId xmlns:a16="http://schemas.microsoft.com/office/drawing/2014/main" id="{1BCB5B9F-5C5E-40D6-8E75-0F1065BC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5FBC7-0E04-468C-9AAD-6DF1EBE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本地量化模型：Qwen2.5-1.5B-Instruct Q4_K_M GGUF。</a:t>
            </a:r>
          </a:p>
        </p:txBody>
      </p:sp>
      <p:sp>
        <p:nvSpPr>
          <p:cNvPr id="6" name="dot">
            <a:extLst xmlns:a="http://schemas.openxmlformats.org/drawingml/2006/main">
              <a:ext uri="{FF2B5EF4-FFF2-40B4-BE49-F238E27FC236}">
                <a16:creationId xmlns:a16="http://schemas.microsoft.com/office/drawing/2014/main" id="{B52D7FEA-4532-4924-9E66-8B37B92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154B-D718-4F90-93A1-186790A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本地数据：SQLite 保存知识库和家庭画像。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8A355DF0-B04B-4C4E-9F2C-BCDEDB3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6489-2AED-42A6-A6A4-7B157A4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本地工具：设备、网络、提醒、传感器均由白名单工具执行。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C637A3DF-D8A3-4F86-9556-CC50684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C4698-2EAC-448C-9898-31C4985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816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安全门：高风险动作必须二次确认。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E04A2324-A926-4AD5-BD38-A17C3B0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06A26-6092-49C1-AB5C-37F2B975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高效响应：规则毫秒级路径，本地模型仅在不确定时参与。</a:t>
            </a:r>
          </a:p>
        </p:txBody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D546041C-A177-415B-8BAC-5A02088D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82DC6-8567-4D31-9661-77EC6034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960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可解释：每轮返回 intent、plan、tool_results、metrics。</a:t>
            </a:r>
          </a:p>
        </p:txBody>
      </p:sp>
      <p:sp>
        <p:nvSpPr>
          <p:cNvPr id="16" name="metric-rule">
            <a:extLst xmlns:a="http://schemas.openxmlformats.org/drawingml/2006/main">
              <a:ext uri="{FF2B5EF4-FFF2-40B4-BE49-F238E27FC236}">
                <a16:creationId xmlns:a16="http://schemas.microsoft.com/office/drawing/2014/main" id="{7FCDF7CF-C1ED-4FE1-99AE-508C6363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4216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612A8-35A1-4647-A41D-062256F6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E8F86"/>
                </a:solidFill>
              </a:defRPr>
            </a:pPr>
            <a:r>
              <a:t>毫秒级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2A91E-8B9E-4E91-AF7E-16E537F1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规则路径</a:t>
            </a:r>
          </a:p>
        </p:txBody>
      </p:sp>
      <p:sp>
        <p:nvSpPr>
          <p:cNvPr id="19" name="metric-model">
            <a:extLst xmlns:a="http://schemas.openxmlformats.org/drawingml/2006/main">
              <a:ext uri="{FF2B5EF4-FFF2-40B4-BE49-F238E27FC236}">
                <a16:creationId xmlns:a16="http://schemas.microsoft.com/office/drawing/2014/main" id="{A4CF607C-5B65-49A7-9558-9729DD1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204216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C0070-19A9-4CF8-842E-8FF8988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2669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678D5"/>
                </a:solidFill>
              </a:defRPr>
            </a:pPr>
            <a:r>
              <a:t>可追踪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80D0A-A2B1-47C6-BD5E-AF247910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146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模型调用指标</a:t>
            </a:r>
          </a:p>
        </p:txBody>
      </p:sp>
      <p:sp>
        <p:nvSpPr>
          <p:cNvPr id="22" name="metric-safe">
            <a:extLst xmlns:a="http://schemas.openxmlformats.org/drawingml/2006/main">
              <a:ext uri="{FF2B5EF4-FFF2-40B4-BE49-F238E27FC236}">
                <a16:creationId xmlns:a16="http://schemas.microsoft.com/office/drawing/2014/main" id="{F3490020-D30F-4978-8E3B-2A47EDA1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59689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FFFCA-DF5A-464B-A2F1-75AE3CD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8293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7A56F"/>
                </a:solidFill>
              </a:defRPr>
            </a:pPr>
            <a:r>
              <a:t>本地化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C1175-A971-47AF-AAA6-2A4323E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47700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隐私数据不出端</a:t>
            </a:r>
          </a:p>
        </p:txBody>
      </p:sp>
      <p:sp>
        <p:nvSpPr>
          <p:cNvPr id="25" name="metric-demo">
            <a:extLst xmlns:a="http://schemas.openxmlformats.org/drawingml/2006/main">
              <a:ext uri="{FF2B5EF4-FFF2-40B4-BE49-F238E27FC236}">
                <a16:creationId xmlns:a16="http://schemas.microsoft.com/office/drawing/2014/main" id="{4624D24C-886F-453D-8852-1328D9D4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559689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1BDB1-B077-43D0-A4DB-198C6D5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8293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A038"/>
                </a:solidFill>
              </a:defRPr>
            </a:pPr>
            <a:r>
              <a:t>可演示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8FCFE-0730-4065-BF9B-5431562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47700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四条主线闭环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3A4BE-A585-40A0-92ED-C259255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06B2A-9C43-4297-8BF2-1B2F01C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0771821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mmary-bg">
            <a:extLst xmlns:a="http://schemas.openxmlformats.org/drawingml/2006/main">
              <a:ext uri="{FF2B5EF4-FFF2-40B4-BE49-F238E27FC236}">
                <a16:creationId xmlns:a16="http://schemas.microsoft.com/office/drawing/2014/main" id="{2F91FC4D-1582-4B10-9778-41965FFB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07FE2-476F-4BB3-9D1A-0F2C978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9601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作品总结：一个可运行的端侧家庭智能体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A395D8-220F-4EB8-B64E-FEEA95E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866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把赛题要求的理解、规划、工具调用、多轮状态和高效推理落到可演示系统中。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84CD9-378C-46CA-A5D5-271345FA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6934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D"/>
                </a:solidFill>
              </a:defRPr>
            </a:pPr>
            <a:r>
              <a:t>不是单纯聊天，而是把家庭任务真正执行起来。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57CF4-061E-4E48-BD1A-49A3F58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695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1"/>
                </a:solidFill>
              </a:defRPr>
            </a:pPr>
            <a:r>
              <a:t>用户一句话进入系统后，会经历意图识别、DAG 规划、白名单工具执行、状态更新和结果解释；每一步都能在 Demo 界面里被看到。</a:t>
            </a:r>
          </a:p>
        </p:txBody>
      </p:sp>
      <p:sp>
        <p:nvSpPr>
          <p:cNvPr id="6" name="chip-场景理解">
            <a:extLst xmlns:a="http://schemas.openxmlformats.org/drawingml/2006/main">
              <a:ext uri="{FF2B5EF4-FFF2-40B4-BE49-F238E27FC236}">
                <a16:creationId xmlns:a16="http://schemas.microsoft.com/office/drawing/2014/main" id="{1DF6689B-960D-47F2-8CCB-F38DD80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12EDB-6D18-407A-9E2F-DAEAC7E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场景理解</a:t>
            </a:r>
          </a:p>
        </p:txBody>
      </p:sp>
      <p:sp>
        <p:nvSpPr>
          <p:cNvPr id="8" name="chip-任务规划">
            <a:extLst xmlns:a="http://schemas.openxmlformats.org/drawingml/2006/main">
              <a:ext uri="{FF2B5EF4-FFF2-40B4-BE49-F238E27FC236}">
                <a16:creationId xmlns:a16="http://schemas.microsoft.com/office/drawing/2014/main" id="{3E468905-55C6-4B38-AE82-FB7295C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39BA2-50B5-423C-BDF0-10C9F0F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任务规划</a:t>
            </a:r>
          </a:p>
        </p:txBody>
      </p:sp>
      <p:sp>
        <p:nvSpPr>
          <p:cNvPr id="10" name="chip-工具调用">
            <a:extLst xmlns:a="http://schemas.openxmlformats.org/drawingml/2006/main">
              <a:ext uri="{FF2B5EF4-FFF2-40B4-BE49-F238E27FC236}">
                <a16:creationId xmlns:a16="http://schemas.microsoft.com/office/drawing/2014/main" id="{B840C7A9-8015-4155-8251-F4BA107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0F812-0494-4599-BE6A-A7F3183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工具调用</a:t>
            </a:r>
          </a:p>
        </p:txBody>
      </p:sp>
      <p:sp>
        <p:nvSpPr>
          <p:cNvPr id="12" name="chip-状态保持">
            <a:extLst xmlns:a="http://schemas.openxmlformats.org/drawingml/2006/main">
              <a:ext uri="{FF2B5EF4-FFF2-40B4-BE49-F238E27FC236}">
                <a16:creationId xmlns:a16="http://schemas.microsoft.com/office/drawing/2014/main" id="{08AB8CFE-74E4-429B-A0B0-E2C936A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80EC7-CED5-46F1-81BD-7B749BAD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状态保持</a:t>
            </a:r>
          </a:p>
        </p:txBody>
      </p:sp>
      <p:sp>
        <p:nvSpPr>
          <p:cNvPr id="14" name="chip-端侧推理">
            <a:extLst xmlns:a="http://schemas.openxmlformats.org/drawingml/2006/main">
              <a:ext uri="{FF2B5EF4-FFF2-40B4-BE49-F238E27FC236}">
                <a16:creationId xmlns:a16="http://schemas.microsoft.com/office/drawing/2014/main" id="{8B6B96A1-0EE4-485E-B518-2C5C413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150AC-B9DD-4C2D-AF95-4B2F632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端侧推理</a:t>
            </a:r>
          </a:p>
        </p:txBody>
      </p:sp>
      <p:sp>
        <p:nvSpPr>
          <p:cNvPr id="16" name="summary-scene">
            <a:extLst xmlns:a="http://schemas.openxmlformats.org/drawingml/2006/main">
              <a:ext uri="{FF2B5EF4-FFF2-40B4-BE49-F238E27FC236}">
                <a16:creationId xmlns:a16="http://schemas.microsoft.com/office/drawing/2014/main" id="{664D7151-FF2A-4B26-8D60-4AC912A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6121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6C76B-BAC3-48B0-ACA7-2A670A6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035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场景落地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2D849-44C0-492A-9231-9A6C457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睡前联动、老人关怀、网络 QoS、主动巡检都能从快捷场景直接触发。</a:t>
            </a:r>
          </a:p>
        </p:txBody>
      </p:sp>
      <p:sp>
        <p:nvSpPr>
          <p:cNvPr id="19" name="summary-agent">
            <a:extLst xmlns:a="http://schemas.openxmlformats.org/drawingml/2006/main">
              <a:ext uri="{FF2B5EF4-FFF2-40B4-BE49-F238E27FC236}">
                <a16:creationId xmlns:a16="http://schemas.microsoft.com/office/drawing/2014/main" id="{D5838250-807D-4479-8AF8-55F4493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06121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17F4C-8797-40FB-A637-D82FF37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9337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678D5"/>
                </a:solidFill>
              </a:defRPr>
            </a:pPr>
            <a:r>
              <a:t>智能体闭环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9CD3F-4404-4034-B6C5-FC30220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429000"/>
            <a:ext cx="3276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规则未命中时由本地模型补识别，随后仍交给 Planner 和工具链执行。</a:t>
            </a:r>
          </a:p>
        </p:txBody>
      </p:sp>
      <p:sp>
        <p:nvSpPr>
          <p:cNvPr id="22" name="summary-memory">
            <a:extLst xmlns:a="http://schemas.openxmlformats.org/drawingml/2006/main">
              <a:ext uri="{FF2B5EF4-FFF2-40B4-BE49-F238E27FC236}">
                <a16:creationId xmlns:a16="http://schemas.microsoft.com/office/drawing/2014/main" id="{CA3B2E64-FF1D-471B-B206-5D5BACE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396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9F393-0BD4-4DFD-B248-459B15A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531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家庭记忆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D73E0-C86A-4BFD-A9B2-B9752BA9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6745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长期画像保存成员性格、爱好和饮食偏好，让后续建议更像家庭中枢。</a:t>
            </a:r>
          </a:p>
        </p:txBody>
      </p:sp>
      <p:sp>
        <p:nvSpPr>
          <p:cNvPr id="25" name="summary-trust">
            <a:extLst xmlns:a="http://schemas.openxmlformats.org/drawingml/2006/main">
              <a:ext uri="{FF2B5EF4-FFF2-40B4-BE49-F238E27FC236}">
                <a16:creationId xmlns:a16="http://schemas.microsoft.com/office/drawing/2014/main" id="{5A9E2C9F-90B8-4E2A-83C0-0E10EC89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01396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C1D9F-71E7-4A2A-9320-DF53AEF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7531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端侧可信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D2566-EDE7-49B5-873D-3597638F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26745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本地模型、本地 SQLite、本地工具日志和性能指标共同支撑隐私与可解释性。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E7D24-C217-467A-AAF2-95305F54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61960"/>
            <a:ext cx="16611600" cy="861060"/>
          </a:xfrm>
          <a:prstGeom xmlns:a="http://schemas.openxmlformats.org/drawingml/2006/main" prst="roundRect">
            <a:avLst>
              <a:gd name="adj" fmla="val 13274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7980D-80A8-4625-8100-C6C8AD7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05800"/>
            <a:ext cx="1596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最终定位：面向三代同堂家庭的本地任务中枢，用可控工具执行承接自然语言交互。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8ED80-A971-4869-A1EC-506303E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E80CD-102E-44EB-9E0F-208B9F9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8068074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hanks-bg">
            <a:extLst xmlns:a="http://schemas.openxmlformats.org/drawingml/2006/main">
              <a:ext uri="{FF2B5EF4-FFF2-40B4-BE49-F238E27FC236}">
                <a16:creationId xmlns:a16="http://schemas.microsoft.com/office/drawing/2014/main" id="{FA8E1B23-4BA1-4FC4-AE37-8FE52D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0FBA0-3C2E-447F-B924-A3851C9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2152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8F86"/>
                </a:solidFill>
              </a:defRPr>
            </a:pPr>
            <a:r>
              <a:t>兴享智家 · 慧家中枢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DC4C-2CDC-40BA-91FB-13E343C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8953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西安电子科技大学广州研究院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9122-DF32-45AA-8398-F1CF699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5146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17212D"/>
                </a:solidFill>
              </a:defRPr>
            </a:pPr>
            <a:r>
              <a:t>谢谢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67D1A-068F-40E9-B13E-98063F7B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34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44DFE-EB65-43DF-ABFF-0A272B0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57850"/>
            <a:ext cx="3086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8F86"/>
                </a:solidFill>
              </a:defRPr>
            </a:pPr>
            <a:r>
              <a:t>欢迎交流与提问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4858-6A14-4370-920F-D54A30AA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5795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1"/>
                </a:solidFill>
              </a:defRPr>
            </a:pPr>
            <a:r>
              <a:t>面向真实家庭任务的端侧智能体，让关怀、设备、网络和安全在本地形成闭环</a:t>
            </a:r>
          </a:p>
        </p:txBody>
      </p:sp>
      <p:sp>
        <p:nvSpPr>
          <p:cNvPr id="8" name="chip-老人关怀">
            <a:extLst xmlns:a="http://schemas.openxmlformats.org/drawingml/2006/main">
              <a:ext uri="{FF2B5EF4-FFF2-40B4-BE49-F238E27FC236}">
                <a16:creationId xmlns:a16="http://schemas.microsoft.com/office/drawing/2014/main" id="{EE477D39-304F-429B-8390-D62350BA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317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6F083-B326-4C39-BC80-BE25A87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老人关怀</a:t>
            </a:r>
          </a:p>
        </p:txBody>
      </p:sp>
      <p:sp>
        <p:nvSpPr>
          <p:cNvPr id="10" name="chip-睡前联动">
            <a:extLst xmlns:a="http://schemas.openxmlformats.org/drawingml/2006/main">
              <a:ext uri="{FF2B5EF4-FFF2-40B4-BE49-F238E27FC236}">
                <a16:creationId xmlns:a16="http://schemas.microsoft.com/office/drawing/2014/main" id="{1E01EC8D-08C4-4110-94D3-C9A8EAA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7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48DB9-E641-4307-A7AD-B9A5C664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睡前联动</a:t>
            </a:r>
          </a:p>
        </p:txBody>
      </p:sp>
      <p:sp>
        <p:nvSpPr>
          <p:cNvPr id="12" name="chip-网络 QoS">
            <a:extLst xmlns:a="http://schemas.openxmlformats.org/drawingml/2006/main">
              <a:ext uri="{FF2B5EF4-FFF2-40B4-BE49-F238E27FC236}">
                <a16:creationId xmlns:a16="http://schemas.microsoft.com/office/drawing/2014/main" id="{10AF3B16-C443-4A9E-A256-4C0DD9E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317" y="8999220"/>
            <a:ext cx="101536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F2EEA-D6D7-4901-B670-8F371DCF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0678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网络 QoS</a:t>
            </a:r>
          </a:p>
        </p:txBody>
      </p:sp>
      <p:sp>
        <p:nvSpPr>
          <p:cNvPr id="14" name="chip-主动巡检">
            <a:extLst xmlns:a="http://schemas.openxmlformats.org/drawingml/2006/main">
              <a:ext uri="{FF2B5EF4-FFF2-40B4-BE49-F238E27FC236}">
                <a16:creationId xmlns:a16="http://schemas.microsoft.com/office/drawing/2014/main" id="{0CA70312-88BC-4F3C-9926-4EB9096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983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BD751-099B-4465-B678-87838D2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主动巡检</a:t>
            </a:r>
          </a:p>
        </p:txBody>
      </p:sp>
      <p:sp>
        <p:nvSpPr>
          <p:cNvPr id="16" name="chip-本地记忆">
            <a:extLst xmlns:a="http://schemas.openxmlformats.org/drawingml/2006/main">
              <a:ext uri="{FF2B5EF4-FFF2-40B4-BE49-F238E27FC236}">
                <a16:creationId xmlns:a16="http://schemas.microsoft.com/office/drawing/2014/main" id="{2A251806-1F88-47B4-97B1-7F859A7A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983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5AB37-E7D7-4DAA-AEE6-17C930B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本地记忆</a:t>
            </a:r>
          </a:p>
        </p:txBody>
      </p:sp>
    </p:spTree>
    <p:extLst>
      <p:ext uri="{BB962C8B-B14F-4D97-AF65-F5344CB8AC3E}">
        <p14:creationId xmlns:p14="http://schemas.microsoft.com/office/powerpoint/2010/main" val="701015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2026-05-21T02:55:02.8150000Z</dcterms:created>
  <dcterms:modified xsi:type="dcterms:W3CDTF">2026-05-21T02:55:02.8150000Z</dcterms:modified>
</coreProperties>
</file>